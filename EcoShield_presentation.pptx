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96" r:id="rId2"/>
    <p:sldId id="273" r:id="rId3"/>
    <p:sldId id="279" r:id="rId4"/>
    <p:sldId id="306" r:id="rId5"/>
    <p:sldId id="278" r:id="rId6"/>
    <p:sldId id="280" r:id="rId7"/>
    <p:sldId id="277" r:id="rId8"/>
    <p:sldId id="281" r:id="rId9"/>
    <p:sldId id="276" r:id="rId10"/>
    <p:sldId id="275" r:id="rId11"/>
    <p:sldId id="283" r:id="rId12"/>
    <p:sldId id="282" r:id="rId13"/>
    <p:sldId id="297" r:id="rId14"/>
    <p:sldId id="300" r:id="rId15"/>
    <p:sldId id="301" r:id="rId16"/>
    <p:sldId id="302" r:id="rId17"/>
    <p:sldId id="303" r:id="rId18"/>
    <p:sldId id="305" r:id="rId19"/>
    <p:sldId id="287" r:id="rId20"/>
    <p:sldId id="286" r:id="rId21"/>
    <p:sldId id="308" r:id="rId22"/>
    <p:sldId id="298" r:id="rId23"/>
    <p:sldId id="299" r:id="rId24"/>
    <p:sldId id="307" r:id="rId2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14" userDrawn="1">
          <p15:clr>
            <a:srgbClr val="A4A3A4"/>
          </p15:clr>
        </p15:guide>
        <p15:guide id="2" pos="289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showGuides="1">
      <p:cViewPr varScale="1">
        <p:scale>
          <a:sx n="68" d="100"/>
          <a:sy n="68" d="100"/>
        </p:scale>
        <p:origin x="1470" y="72"/>
      </p:cViewPr>
      <p:guideLst>
        <p:guide orient="horz" pos="2114"/>
        <p:guide pos="289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8E83CC3-41B6-42BD-9F98-3F0C5E0798A2}" type="datetimeFigureOut">
              <a:rPr lang="en-IN" smtClean="0"/>
              <a:t>02-09-2025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9987CCC-0422-4E00-A55D-B3A27BEAF843}"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8E83CC3-41B6-42BD-9F98-3F0C5E0798A2}" type="datetimeFigureOut">
              <a:rPr lang="en-IN" smtClean="0"/>
              <a:t>02-09-2025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9987CCC-0422-4E00-A55D-B3A27BEAF843}"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8E83CC3-41B6-42BD-9F98-3F0C5E0798A2}" type="datetimeFigureOut">
              <a:rPr lang="en-IN" smtClean="0"/>
              <a:t>02-09-2025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9987CCC-0422-4E00-A55D-B3A27BEAF843}"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8E83CC3-41B6-42BD-9F98-3F0C5E0798A2}" type="datetimeFigureOut">
              <a:rPr lang="en-IN" smtClean="0"/>
              <a:t>02-09-2025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9987CCC-0422-4E00-A55D-B3A27BEAF843}"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8E83CC3-41B6-42BD-9F98-3F0C5E0798A2}" type="datetimeFigureOut">
              <a:rPr lang="en-IN" smtClean="0"/>
              <a:t>02-09-2025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9987CCC-0422-4E00-A55D-B3A27BEAF843}"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8E83CC3-41B6-42BD-9F98-3F0C5E0798A2}" type="datetimeFigureOut">
              <a:rPr lang="en-IN" smtClean="0"/>
              <a:t>02-09-2025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9987CCC-0422-4E00-A55D-B3A27BEAF843}"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8E83CC3-41B6-42BD-9F98-3F0C5E0798A2}" type="datetimeFigureOut">
              <a:rPr lang="en-IN" smtClean="0"/>
              <a:t>02-09-2025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9987CCC-0422-4E00-A55D-B3A27BEAF843}"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8E83CC3-41B6-42BD-9F98-3F0C5E0798A2}" type="datetimeFigureOut">
              <a:rPr lang="en-IN" smtClean="0"/>
              <a:t>02-09-2025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9987CCC-0422-4E00-A55D-B3A27BEAF843}"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8E83CC3-41B6-42BD-9F98-3F0C5E0798A2}" type="datetimeFigureOut">
              <a:rPr lang="en-IN" smtClean="0"/>
              <a:t>02-09-2025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9987CCC-0422-4E00-A55D-B3A27BEAF843}"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8E83CC3-41B6-42BD-9F98-3F0C5E0798A2}" type="datetimeFigureOut">
              <a:rPr lang="en-IN" smtClean="0"/>
              <a:t>02-09-2025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9987CCC-0422-4E00-A55D-B3A27BEAF843}"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8E83CC3-41B6-42BD-9F98-3F0C5E0798A2}" type="datetimeFigureOut">
              <a:rPr lang="en-IN" smtClean="0"/>
              <a:t>02-09-2025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9987CCC-0422-4E00-A55D-B3A27BEAF843}"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8E83CC3-41B6-42BD-9F98-3F0C5E0798A2}" type="datetimeFigureOut">
              <a:rPr lang="en-IN" smtClean="0"/>
              <a:t>02-09-2025</a:t>
            </a:fld>
            <a:endParaRPr lang="en-I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9987CCC-0422-4E00-A55D-B3A27BEAF843}"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hyperlink" Target="https://arxiv.org/pdf/2307.04046" TargetMode="External"/><Relationship Id="rId2" Type="http://schemas.openxmlformats.org/officeDocument/2006/relationships/hyperlink" Target="https://www.researchgate.net/publication/358922221" TargetMode="External"/><Relationship Id="rId1" Type="http://schemas.openxmlformats.org/officeDocument/2006/relationships/slideLayout" Target="../slideLayouts/slideLayout1.xml"/><Relationship Id="rId5" Type="http://schemas.openxmlformats.org/officeDocument/2006/relationships/hyperlink" Target="https://arxiv.org/abs/2301.12984" TargetMode="External"/><Relationship Id="rId4" Type="http://schemas.openxmlformats.org/officeDocument/2006/relationships/hyperlink" Target="https://www.researchgate.net/publication/359388774"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998934" y="2588302"/>
            <a:ext cx="7146131" cy="12192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defTabSz="914400" fontAlgn="base">
              <a:spcBef>
                <a:spcPct val="0"/>
              </a:spcBef>
              <a:spcAft>
                <a:spcPct val="0"/>
              </a:spcAft>
              <a:defRPr/>
            </a:pPr>
            <a:r>
              <a:rPr lang="en-US" altLang="en-US" sz="3200" b="1" dirty="0">
                <a:solidFill>
                  <a:prstClr val="black"/>
                </a:solidFill>
                <a:latin typeface="Times New Roman" panose="02020603050405020304" pitchFamily="18" charset="0"/>
                <a:cs typeface="Times New Roman" panose="02020603050405020304" pitchFamily="18" charset="0"/>
              </a:rPr>
              <a:t>ECOSHIELD – SMART DISASTER ALERTING &amp; ENVIRONMENTAL MONITORING SYSTEM</a:t>
            </a:r>
            <a:endParaRPr kumimoji="0" lang="en-US" altLang="en-US" sz="3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p:nvPr/>
        </p:nvSpPr>
        <p:spPr>
          <a:xfrm>
            <a:off x="912813" y="392113"/>
            <a:ext cx="7318375" cy="553998"/>
          </a:xfrm>
          <a:prstGeom prst="rect">
            <a:avLst/>
          </a:prstGeom>
        </p:spPr>
        <p:txBody>
          <a:bodyPr vert="horz" lIns="91440" tIns="45720" rIns="91440" bIns="45720" rtlCol="0" anchor="b">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3600" b="1" dirty="0">
                <a:latin typeface="Times New Roman" panose="02020603050405020304" pitchFamily="18" charset="0"/>
                <a:cs typeface="Times New Roman" panose="02020603050405020304" pitchFamily="18" charset="0"/>
              </a:rPr>
              <a:t>ABSTRACT</a:t>
            </a:r>
            <a:endParaRPr lang="en-US" dirty="0">
              <a:latin typeface="Times New Roman" panose="02020603050405020304" pitchFamily="18" charset="0"/>
              <a:cs typeface="Times New Roman" panose="02020603050405020304" pitchFamily="18" charset="0"/>
            </a:endParaRPr>
          </a:p>
        </p:txBody>
      </p:sp>
      <p:sp>
        <p:nvSpPr>
          <p:cNvPr id="6" name="Text Placeholder 2"/>
          <p:cNvSpPr txBox="1"/>
          <p:nvPr/>
        </p:nvSpPr>
        <p:spPr>
          <a:xfrm>
            <a:off x="457200" y="1219201"/>
            <a:ext cx="8229600" cy="411247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41300" indent="457200" algn="just">
              <a:lnSpc>
                <a:spcPct val="100000"/>
              </a:lnSpc>
              <a:spcBef>
                <a:spcPts val="75"/>
              </a:spcBef>
            </a:pPr>
            <a:r>
              <a:rPr lang="en-US" altLang="en-US" sz="2000" dirty="0">
                <a:latin typeface="Times New Roman" panose="02020603050405020304" pitchFamily="18" charset="0"/>
                <a:cs typeface="Times New Roman" panose="02020603050405020304" pitchFamily="18" charset="0"/>
              </a:rPr>
              <a:t>This project integrates GIS, AI, remote sensing, and mobile technology to strengthen disaster management, coastal protection, and climate resilience. It uses AI and GIS tools to identify erosion-prone areas, forecast disaster risks, and analyze geospatial data to select optimal coastal plantation sites. </a:t>
            </a:r>
          </a:p>
          <a:p>
            <a:pPr marL="241300" algn="just">
              <a:lnSpc>
                <a:spcPct val="100000"/>
              </a:lnSpc>
              <a:spcBef>
                <a:spcPts val="75"/>
              </a:spcBef>
            </a:pPr>
            <a:endParaRPr lang="en-US" altLang="en-US" sz="2000" dirty="0">
              <a:latin typeface="Times New Roman" panose="02020603050405020304" pitchFamily="18" charset="0"/>
              <a:cs typeface="Times New Roman" panose="02020603050405020304" pitchFamily="18" charset="0"/>
            </a:endParaRPr>
          </a:p>
          <a:p>
            <a:pPr marL="241300" indent="457200" algn="just">
              <a:lnSpc>
                <a:spcPct val="100000"/>
              </a:lnSpc>
              <a:spcBef>
                <a:spcPts val="75"/>
              </a:spcBef>
            </a:pPr>
            <a:r>
              <a:rPr lang="en-US" altLang="en-US" sz="2000" dirty="0">
                <a:latin typeface="Times New Roman" panose="02020603050405020304" pitchFamily="18" charset="0"/>
                <a:cs typeface="Times New Roman" panose="02020603050405020304" pitchFamily="18" charset="0"/>
              </a:rPr>
              <a:t>A mobile platform will deliver instant disaster alerts and allow users to report hazards, enhancing situational awareness. The system will also track the environmental benefits of shelter belt plantations to support long-term climate resilience.</a:t>
            </a:r>
          </a:p>
          <a:p>
            <a:pPr marL="241300" algn="just">
              <a:lnSpc>
                <a:spcPct val="100000"/>
              </a:lnSpc>
              <a:spcBef>
                <a:spcPts val="75"/>
              </a:spcBef>
            </a:pPr>
            <a:endParaRPr lang="en-US" altLang="en-US" sz="2000" dirty="0">
              <a:latin typeface="Times New Roman" panose="02020603050405020304" pitchFamily="18" charset="0"/>
              <a:cs typeface="Times New Roman" panose="02020603050405020304" pitchFamily="18" charset="0"/>
            </a:endParaRPr>
          </a:p>
          <a:p>
            <a:pPr marL="241300" indent="457200" algn="just">
              <a:lnSpc>
                <a:spcPct val="100000"/>
              </a:lnSpc>
              <a:spcBef>
                <a:spcPts val="75"/>
              </a:spcBef>
            </a:pPr>
            <a:r>
              <a:rPr lang="en-US" sz="2000" dirty="0">
                <a:latin typeface="Times New Roman" panose="02020603050405020304" pitchFamily="18" charset="0"/>
                <a:cs typeface="Times New Roman" panose="02020603050405020304" pitchFamily="18" charset="0"/>
                <a:sym typeface="+mn-ea"/>
              </a:rPr>
              <a:t>Additionally, the system provides real-time analytics and risk assessment features to help agencies prioritize actions and allocate resources effectively.</a:t>
            </a:r>
            <a:endParaRPr lang="en-US" alt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912809" y="203387"/>
            <a:ext cx="7318375" cy="369332"/>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400" b="1" dirty="0">
                <a:latin typeface="Times New Roman" panose="02020603050405020304" pitchFamily="18" charset="0"/>
                <a:cs typeface="Times New Roman" panose="02020603050405020304" pitchFamily="18" charset="0"/>
              </a:rPr>
              <a:t>LITERATURE SURVEY</a:t>
            </a:r>
            <a:endParaRPr lang="en-US" sz="2400" b="1" dirty="0">
              <a:latin typeface="Times New Roman" panose="02020603050405020304" pitchFamily="18" charset="0"/>
              <a:cs typeface="Times New Roman" panose="02020603050405020304" pitchFamily="18" charset="0"/>
            </a:endParaRPr>
          </a:p>
        </p:txBody>
      </p:sp>
      <p:graphicFrame>
        <p:nvGraphicFramePr>
          <p:cNvPr id="5" name="Table 4"/>
          <p:cNvGraphicFramePr>
            <a:graphicFrameLocks noGrp="1"/>
          </p:cNvGraphicFramePr>
          <p:nvPr/>
        </p:nvGraphicFramePr>
        <p:xfrm>
          <a:off x="228601" y="683142"/>
          <a:ext cx="8686793" cy="5257800"/>
        </p:xfrm>
        <a:graphic>
          <a:graphicData uri="http://schemas.openxmlformats.org/drawingml/2006/table">
            <a:tbl>
              <a:tblPr firstRow="1" bandRow="1">
                <a:tableStyleId>{21E4AEA4-8DFA-4A89-87EB-49C32662AFE0}</a:tableStyleId>
              </a:tblPr>
              <a:tblGrid>
                <a:gridCol w="559191">
                  <a:extLst>
                    <a:ext uri="{9D8B030D-6E8A-4147-A177-3AD203B41FA5}">
                      <a16:colId xmlns:a16="http://schemas.microsoft.com/office/drawing/2014/main" val="20000"/>
                    </a:ext>
                  </a:extLst>
                </a:gridCol>
                <a:gridCol w="1726809">
                  <a:extLst>
                    <a:ext uri="{9D8B030D-6E8A-4147-A177-3AD203B41FA5}">
                      <a16:colId xmlns:a16="http://schemas.microsoft.com/office/drawing/2014/main" val="20001"/>
                    </a:ext>
                  </a:extLst>
                </a:gridCol>
                <a:gridCol w="3428999">
                  <a:extLst>
                    <a:ext uri="{9D8B030D-6E8A-4147-A177-3AD203B41FA5}">
                      <a16:colId xmlns:a16="http://schemas.microsoft.com/office/drawing/2014/main" val="20002"/>
                    </a:ext>
                  </a:extLst>
                </a:gridCol>
                <a:gridCol w="2074986">
                  <a:extLst>
                    <a:ext uri="{9D8B030D-6E8A-4147-A177-3AD203B41FA5}">
                      <a16:colId xmlns:a16="http://schemas.microsoft.com/office/drawing/2014/main" val="20003"/>
                    </a:ext>
                  </a:extLst>
                </a:gridCol>
                <a:gridCol w="896808">
                  <a:extLst>
                    <a:ext uri="{9D8B030D-6E8A-4147-A177-3AD203B41FA5}">
                      <a16:colId xmlns:a16="http://schemas.microsoft.com/office/drawing/2014/main" val="20004"/>
                    </a:ext>
                  </a:extLst>
                </a:gridCol>
              </a:tblGrid>
              <a:tr h="306530">
                <a:tc>
                  <a:txBody>
                    <a:bodyPr/>
                    <a:lstStyle/>
                    <a:p>
                      <a:pPr algn="ctr"/>
                      <a:r>
                        <a:rPr lang="en-IN" sz="1900" dirty="0">
                          <a:latin typeface="Times New Roman" panose="02020603050405020304" pitchFamily="18" charset="0"/>
                          <a:cs typeface="Times New Roman" panose="02020603050405020304" pitchFamily="18" charset="0"/>
                        </a:rPr>
                        <a:t>S.</a:t>
                      </a:r>
                    </a:p>
                    <a:p>
                      <a:pPr algn="ctr"/>
                      <a:r>
                        <a:rPr lang="en-IN" sz="1900" dirty="0">
                          <a:latin typeface="Times New Roman" panose="02020603050405020304" pitchFamily="18" charset="0"/>
                          <a:cs typeface="Times New Roman" panose="02020603050405020304" pitchFamily="18" charset="0"/>
                        </a:rPr>
                        <a:t>NO</a:t>
                      </a:r>
                      <a:endParaRPr lang="en-US" sz="1900" dirty="0">
                        <a:latin typeface="Times New Roman" panose="02020603050405020304" pitchFamily="18" charset="0"/>
                        <a:cs typeface="Times New Roman" panose="02020603050405020304" pitchFamily="18" charset="0"/>
                      </a:endParaRPr>
                    </a:p>
                  </a:txBody>
                  <a:tcPr anchor="ctr">
                    <a:solidFill>
                      <a:schemeClr val="bg1">
                        <a:lumMod val="65000"/>
                      </a:schemeClr>
                    </a:solidFill>
                  </a:tcPr>
                </a:tc>
                <a:tc>
                  <a:txBody>
                    <a:bodyPr/>
                    <a:lstStyle/>
                    <a:p>
                      <a:pPr algn="ctr"/>
                      <a:r>
                        <a:rPr lang="en-IN" sz="1900" dirty="0">
                          <a:latin typeface="Times New Roman" panose="02020603050405020304" pitchFamily="18" charset="0"/>
                          <a:cs typeface="Times New Roman" panose="02020603050405020304" pitchFamily="18" charset="0"/>
                        </a:rPr>
                        <a:t>TITLE</a:t>
                      </a:r>
                      <a:endParaRPr lang="en-US" sz="1900" dirty="0">
                        <a:latin typeface="Times New Roman" panose="02020603050405020304" pitchFamily="18" charset="0"/>
                        <a:cs typeface="Times New Roman" panose="02020603050405020304" pitchFamily="18" charset="0"/>
                      </a:endParaRPr>
                    </a:p>
                  </a:txBody>
                  <a:tcPr anchor="ctr">
                    <a:solidFill>
                      <a:schemeClr val="bg1">
                        <a:lumMod val="65000"/>
                      </a:schemeClr>
                    </a:solidFill>
                  </a:tcPr>
                </a:tc>
                <a:tc>
                  <a:txBody>
                    <a:bodyPr/>
                    <a:lstStyle/>
                    <a:p>
                      <a:pPr algn="ctr"/>
                      <a:r>
                        <a:rPr lang="en-IN" sz="1900" dirty="0">
                          <a:latin typeface="Times New Roman" panose="02020603050405020304" pitchFamily="18" charset="0"/>
                          <a:cs typeface="Times New Roman" panose="02020603050405020304" pitchFamily="18" charset="0"/>
                        </a:rPr>
                        <a:t>CONCEPT</a:t>
                      </a:r>
                      <a:endParaRPr lang="en-US" sz="1900" dirty="0">
                        <a:latin typeface="Times New Roman" panose="02020603050405020304" pitchFamily="18" charset="0"/>
                        <a:cs typeface="Times New Roman" panose="02020603050405020304" pitchFamily="18" charset="0"/>
                      </a:endParaRPr>
                    </a:p>
                  </a:txBody>
                  <a:tcPr anchor="ctr">
                    <a:solidFill>
                      <a:schemeClr val="bg1">
                        <a:lumMod val="65000"/>
                      </a:schemeClr>
                    </a:solidFill>
                  </a:tcPr>
                </a:tc>
                <a:tc>
                  <a:txBody>
                    <a:bodyPr/>
                    <a:lstStyle/>
                    <a:p>
                      <a:pPr algn="ctr"/>
                      <a:r>
                        <a:rPr lang="en-IN" sz="1900" dirty="0">
                          <a:latin typeface="Times New Roman" panose="02020603050405020304" pitchFamily="18" charset="0"/>
                          <a:cs typeface="Times New Roman" panose="02020603050405020304" pitchFamily="18" charset="0"/>
                        </a:rPr>
                        <a:t>AUTHOR</a:t>
                      </a:r>
                      <a:endParaRPr lang="en-US" sz="1900" dirty="0">
                        <a:latin typeface="Times New Roman" panose="02020603050405020304" pitchFamily="18" charset="0"/>
                        <a:cs typeface="Times New Roman" panose="02020603050405020304" pitchFamily="18" charset="0"/>
                      </a:endParaRPr>
                    </a:p>
                  </a:txBody>
                  <a:tcPr anchor="ctr">
                    <a:solidFill>
                      <a:schemeClr val="bg1">
                        <a:lumMod val="65000"/>
                      </a:schemeClr>
                    </a:solidFill>
                  </a:tcPr>
                </a:tc>
                <a:tc>
                  <a:txBody>
                    <a:bodyPr/>
                    <a:lstStyle/>
                    <a:p>
                      <a:pPr algn="ctr"/>
                      <a:r>
                        <a:rPr lang="en-IN" sz="1900" dirty="0">
                          <a:latin typeface="Times New Roman" panose="02020603050405020304" pitchFamily="18" charset="0"/>
                          <a:cs typeface="Times New Roman" panose="02020603050405020304" pitchFamily="18" charset="0"/>
                        </a:rPr>
                        <a:t>YEAR</a:t>
                      </a:r>
                      <a:endParaRPr lang="en-US" sz="1900" dirty="0">
                        <a:latin typeface="Times New Roman" panose="02020603050405020304" pitchFamily="18" charset="0"/>
                        <a:cs typeface="Times New Roman" panose="02020603050405020304" pitchFamily="18" charset="0"/>
                      </a:endParaRPr>
                    </a:p>
                  </a:txBody>
                  <a:tcPr anchor="ctr">
                    <a:solidFill>
                      <a:schemeClr val="bg1">
                        <a:lumMod val="65000"/>
                      </a:schemeClr>
                    </a:solidFill>
                  </a:tcPr>
                </a:tc>
                <a:extLst>
                  <a:ext uri="{0D108BD9-81ED-4DB2-BD59-A6C34878D82A}">
                    <a16:rowId xmlns:a16="http://schemas.microsoft.com/office/drawing/2014/main" val="10000"/>
                  </a:ext>
                </a:extLst>
              </a:tr>
              <a:tr h="1425889">
                <a:tc>
                  <a:txBody>
                    <a:bodyPr/>
                    <a:lstStyle/>
                    <a:p>
                      <a:pPr algn="ctr">
                        <a:lnSpc>
                          <a:spcPct val="200000"/>
                        </a:lnSpc>
                      </a:pPr>
                      <a:r>
                        <a:rPr lang="en-IN" sz="1900">
                          <a:latin typeface="Times New Roman" panose="02020603050405020304" pitchFamily="18" charset="0"/>
                          <a:cs typeface="Times New Roman" panose="02020603050405020304" pitchFamily="18" charset="0"/>
                        </a:rPr>
                        <a:t>1)</a:t>
                      </a:r>
                      <a:endParaRPr lang="en-US" sz="1900" dirty="0">
                        <a:latin typeface="Times New Roman" panose="02020603050405020304" pitchFamily="18" charset="0"/>
                        <a:cs typeface="Times New Roman" panose="02020603050405020304" pitchFamily="18" charset="0"/>
                      </a:endParaRPr>
                    </a:p>
                  </a:txBody>
                  <a:tcPr anchor="ctr">
                    <a:solidFill>
                      <a:schemeClr val="bg1">
                        <a:lumMod val="95000"/>
                      </a:schemeClr>
                    </a:solidFill>
                  </a:tcPr>
                </a:tc>
                <a:tc>
                  <a:txBody>
                    <a:bodyPr/>
                    <a:lstStyle/>
                    <a:p>
                      <a:pPr algn="ctr"/>
                      <a:r>
                        <a:rPr lang="en-US" sz="1700" dirty="0">
                          <a:effectLst/>
                          <a:latin typeface="Times New Roman" panose="02020603050405020304" pitchFamily="18" charset="0"/>
                          <a:cs typeface="Times New Roman" panose="02020603050405020304" pitchFamily="18" charset="0"/>
                        </a:rPr>
                        <a:t>A Hybrid Prediction Model Integrating Artificial Intelligence and Geospatial Analysis for Disaster Management</a:t>
                      </a:r>
                      <a:endParaRPr lang="en-US" sz="1700" b="0" i="0" dirty="0">
                        <a:solidFill>
                          <a:schemeClr val="dk1"/>
                        </a:solidFill>
                        <a:effectLst/>
                        <a:latin typeface="Times New Roman" panose="02020603050405020304" pitchFamily="18" charset="0"/>
                        <a:ea typeface="+mn-ea"/>
                        <a:cs typeface="Times New Roman" panose="02020603050405020304" pitchFamily="18" charset="0"/>
                      </a:endParaRPr>
                    </a:p>
                  </a:txBody>
                  <a:tcPr anchor="ctr">
                    <a:solidFill>
                      <a:schemeClr val="bg1">
                        <a:lumMod val="95000"/>
                      </a:schemeClr>
                    </a:solidFill>
                  </a:tcPr>
                </a:tc>
                <a:tc>
                  <a:txBody>
                    <a:bodyPr/>
                    <a:lstStyle/>
                    <a:p>
                      <a:pPr algn="just"/>
                      <a:r>
                        <a:rPr lang="en-US" sz="1700" dirty="0">
                          <a:latin typeface="Times New Roman" panose="02020603050405020304" pitchFamily="18" charset="0"/>
                          <a:cs typeface="Times New Roman" panose="02020603050405020304" pitchFamily="18" charset="0"/>
                        </a:rPr>
                        <a:t>This study addresses the need for timely, accurate disaster predictions and proposes a hybrid machine learning model combining CNNs, GBMs, and SVMs to improve forecasts for floods, earthquakes, and wildfires.</a:t>
                      </a:r>
                    </a:p>
                  </a:txBody>
                  <a:tcPr>
                    <a:solidFill>
                      <a:schemeClr val="bg1">
                        <a:lumMod val="95000"/>
                      </a:schemeClr>
                    </a:solidFill>
                  </a:tcPr>
                </a:tc>
                <a:tc>
                  <a:txBody>
                    <a:bodyPr/>
                    <a:lstStyle/>
                    <a:p>
                      <a:pPr marL="0" indent="0" algn="ctr">
                        <a:buFont typeface="+mj-lt"/>
                        <a:buNone/>
                      </a:pPr>
                      <a:r>
                        <a:rPr lang="en-US" sz="1700" b="0" i="0" u="none" strike="noStrike" kern="1200" dirty="0">
                          <a:solidFill>
                            <a:schemeClr val="dk1"/>
                          </a:solidFill>
                          <a:effectLst/>
                          <a:latin typeface="Times New Roman" panose="02020603050405020304" pitchFamily="18" charset="0"/>
                          <a:ea typeface="+mn-ea"/>
                          <a:cs typeface="Times New Roman" panose="02020603050405020304" pitchFamily="18" charset="0"/>
                        </a:rPr>
                        <a:t>Muhammad </a:t>
                      </a:r>
                      <a:r>
                        <a:rPr lang="en-US" sz="1700" b="0" i="0" u="none" strike="noStrike" kern="1200" dirty="0" err="1">
                          <a:solidFill>
                            <a:schemeClr val="dk1"/>
                          </a:solidFill>
                          <a:effectLst/>
                          <a:latin typeface="Times New Roman" panose="02020603050405020304" pitchFamily="18" charset="0"/>
                          <a:ea typeface="+mn-ea"/>
                          <a:cs typeface="Times New Roman" panose="02020603050405020304" pitchFamily="18" charset="0"/>
                        </a:rPr>
                        <a:t>Asim</a:t>
                      </a:r>
                      <a:r>
                        <a:rPr lang="en-US" sz="1700" b="0" i="0" u="none" strike="noStrike" kern="1200" dirty="0">
                          <a:solidFill>
                            <a:schemeClr val="dk1"/>
                          </a:solidFill>
                          <a:effectLst/>
                          <a:latin typeface="Times New Roman" panose="02020603050405020304" pitchFamily="18" charset="0"/>
                          <a:ea typeface="+mn-ea"/>
                          <a:cs typeface="Times New Roman" panose="02020603050405020304" pitchFamily="18" charset="0"/>
                        </a:rPr>
                        <a:t> Saleem, </a:t>
                      </a:r>
                      <a:r>
                        <a:rPr lang="en-US" sz="1700" b="0" i="0" u="none" strike="noStrike" kern="1200" dirty="0" err="1">
                          <a:solidFill>
                            <a:schemeClr val="dk1"/>
                          </a:solidFill>
                          <a:effectLst/>
                          <a:latin typeface="Times New Roman" panose="02020603050405020304" pitchFamily="18" charset="0"/>
                          <a:ea typeface="+mn-ea"/>
                          <a:cs typeface="Times New Roman" panose="02020603050405020304" pitchFamily="18" charset="0"/>
                        </a:rPr>
                        <a:t>Watit</a:t>
                      </a:r>
                      <a:r>
                        <a:rPr lang="en-US" sz="1700" b="0" i="0" u="none" strike="noStrike" kern="1200" dirty="0">
                          <a:solidFill>
                            <a:schemeClr val="dk1"/>
                          </a:solidFill>
                          <a:effectLst/>
                          <a:latin typeface="Times New Roman" panose="02020603050405020304" pitchFamily="18" charset="0"/>
                          <a:ea typeface="+mn-ea"/>
                          <a:cs typeface="Times New Roman" panose="02020603050405020304" pitchFamily="18" charset="0"/>
                        </a:rPr>
                        <a:t> </a:t>
                      </a:r>
                      <a:r>
                        <a:rPr lang="en-US" sz="1700" b="0" i="0" u="none" strike="noStrike" kern="1200" dirty="0" err="1">
                          <a:solidFill>
                            <a:schemeClr val="dk1"/>
                          </a:solidFill>
                          <a:effectLst/>
                          <a:latin typeface="Times New Roman" panose="02020603050405020304" pitchFamily="18" charset="0"/>
                          <a:ea typeface="+mn-ea"/>
                          <a:cs typeface="Times New Roman" panose="02020603050405020304" pitchFamily="18" charset="0"/>
                        </a:rPr>
                        <a:t>Benjapolakul</a:t>
                      </a:r>
                      <a:r>
                        <a:rPr lang="en-US" sz="1700" b="0" i="0" u="none" strike="noStrike" kern="1200" dirty="0">
                          <a:solidFill>
                            <a:schemeClr val="dk1"/>
                          </a:solidFill>
                          <a:effectLst/>
                          <a:latin typeface="Times New Roman" panose="02020603050405020304" pitchFamily="18" charset="0"/>
                          <a:ea typeface="+mn-ea"/>
                          <a:cs typeface="Times New Roman" panose="02020603050405020304" pitchFamily="18" charset="0"/>
                        </a:rPr>
                        <a:t>, Surachai </a:t>
                      </a:r>
                      <a:r>
                        <a:rPr lang="en-US" sz="1700" b="0" i="0" u="none" strike="noStrike" kern="1200" dirty="0" err="1">
                          <a:solidFill>
                            <a:schemeClr val="dk1"/>
                          </a:solidFill>
                          <a:effectLst/>
                          <a:latin typeface="Times New Roman" panose="02020603050405020304" pitchFamily="18" charset="0"/>
                          <a:ea typeface="+mn-ea"/>
                          <a:cs typeface="Times New Roman" panose="02020603050405020304" pitchFamily="18" charset="0"/>
                        </a:rPr>
                        <a:t>Chaitusaney</a:t>
                      </a:r>
                      <a:r>
                        <a:rPr lang="en-US" sz="1700" b="0" i="0" u="none" strike="noStrike" kern="1200" dirty="0">
                          <a:solidFill>
                            <a:schemeClr val="dk1"/>
                          </a:solidFill>
                          <a:effectLst/>
                          <a:latin typeface="Times New Roman" panose="02020603050405020304" pitchFamily="18" charset="0"/>
                          <a:ea typeface="+mn-ea"/>
                          <a:cs typeface="Times New Roman" panose="02020603050405020304" pitchFamily="18" charset="0"/>
                        </a:rPr>
                        <a:t>, </a:t>
                      </a:r>
                      <a:r>
                        <a:rPr lang="en-US" sz="1700" b="0" i="0" u="none" strike="noStrike" kern="1200" dirty="0" err="1">
                          <a:solidFill>
                            <a:schemeClr val="dk1"/>
                          </a:solidFill>
                          <a:effectLst/>
                          <a:latin typeface="Times New Roman" panose="02020603050405020304" pitchFamily="18" charset="0"/>
                          <a:ea typeface="+mn-ea"/>
                          <a:cs typeface="Times New Roman" panose="02020603050405020304" pitchFamily="18" charset="0"/>
                        </a:rPr>
                        <a:t>Pasu</a:t>
                      </a:r>
                      <a:r>
                        <a:rPr lang="en-US" sz="1700" b="0" i="0" u="none" strike="noStrike" kern="1200" dirty="0">
                          <a:solidFill>
                            <a:schemeClr val="dk1"/>
                          </a:solidFill>
                          <a:effectLst/>
                          <a:latin typeface="Times New Roman" panose="02020603050405020304" pitchFamily="18" charset="0"/>
                          <a:ea typeface="+mn-ea"/>
                          <a:cs typeface="Times New Roman" panose="02020603050405020304" pitchFamily="18" charset="0"/>
                        </a:rPr>
                        <a:t> </a:t>
                      </a:r>
                      <a:r>
                        <a:rPr lang="en-US" sz="1700" b="0" i="0" u="none" strike="noStrike" kern="1200" dirty="0" err="1">
                          <a:solidFill>
                            <a:schemeClr val="dk1"/>
                          </a:solidFill>
                          <a:effectLst/>
                          <a:latin typeface="Times New Roman" panose="02020603050405020304" pitchFamily="18" charset="0"/>
                          <a:ea typeface="+mn-ea"/>
                          <a:cs typeface="Times New Roman" panose="02020603050405020304" pitchFamily="18" charset="0"/>
                        </a:rPr>
                        <a:t>Kaewplung</a:t>
                      </a:r>
                      <a:r>
                        <a:rPr lang="en-US" sz="1700" b="0" i="0" u="none" strike="noStrike" kern="1200" dirty="0">
                          <a:solidFill>
                            <a:schemeClr val="dk1"/>
                          </a:solidFill>
                          <a:effectLst/>
                          <a:latin typeface="Times New Roman" panose="02020603050405020304" pitchFamily="18" charset="0"/>
                          <a:ea typeface="+mn-ea"/>
                          <a:cs typeface="Times New Roman" panose="02020603050405020304" pitchFamily="18" charset="0"/>
                        </a:rPr>
                        <a:t>, </a:t>
                      </a:r>
                      <a:r>
                        <a:rPr lang="en-US" sz="1700" b="0" i="0" u="none" strike="noStrike" kern="1200" dirty="0" err="1">
                          <a:solidFill>
                            <a:schemeClr val="dk1"/>
                          </a:solidFill>
                          <a:effectLst/>
                          <a:latin typeface="Times New Roman" panose="02020603050405020304" pitchFamily="18" charset="0"/>
                          <a:ea typeface="+mn-ea"/>
                          <a:cs typeface="Times New Roman" panose="02020603050405020304" pitchFamily="18" charset="0"/>
                        </a:rPr>
                        <a:t>Wattanasak</a:t>
                      </a:r>
                      <a:r>
                        <a:rPr lang="en-US" sz="1700" b="0" i="0" u="none" strike="noStrike" kern="1200" dirty="0">
                          <a:solidFill>
                            <a:schemeClr val="dk1"/>
                          </a:solidFill>
                          <a:effectLst/>
                          <a:latin typeface="Times New Roman" panose="02020603050405020304" pitchFamily="18" charset="0"/>
                          <a:ea typeface="+mn-ea"/>
                          <a:cs typeface="Times New Roman" panose="02020603050405020304" pitchFamily="18" charset="0"/>
                        </a:rPr>
                        <a:t> </a:t>
                      </a:r>
                      <a:r>
                        <a:rPr lang="en-US" sz="1700" b="0" i="0" u="none" strike="noStrike" kern="1200" dirty="0" err="1">
                          <a:solidFill>
                            <a:schemeClr val="dk1"/>
                          </a:solidFill>
                          <a:effectLst/>
                          <a:latin typeface="Times New Roman" panose="02020603050405020304" pitchFamily="18" charset="0"/>
                          <a:ea typeface="+mn-ea"/>
                          <a:cs typeface="Times New Roman" panose="02020603050405020304" pitchFamily="18" charset="0"/>
                        </a:rPr>
                        <a:t>Srisiri</a:t>
                      </a:r>
                      <a:endParaRPr lang="en-US" sz="1700" b="0" i="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nchor="ctr">
                    <a:solidFill>
                      <a:schemeClr val="bg1">
                        <a:lumMod val="95000"/>
                      </a:schemeClr>
                    </a:solidFill>
                  </a:tcPr>
                </a:tc>
                <a:tc>
                  <a:txBody>
                    <a:bodyPr/>
                    <a:lstStyle/>
                    <a:p>
                      <a:pPr algn="ctr">
                        <a:lnSpc>
                          <a:spcPct val="100000"/>
                        </a:lnSpc>
                      </a:pPr>
                      <a:r>
                        <a:rPr lang="en-IN" sz="1900" dirty="0">
                          <a:latin typeface="Times New Roman" panose="02020603050405020304" pitchFamily="18" charset="0"/>
                          <a:cs typeface="Times New Roman" panose="02020603050405020304" pitchFamily="18" charset="0"/>
                        </a:rPr>
                        <a:t>2025</a:t>
                      </a:r>
                      <a:endParaRPr lang="en-US" sz="1900" dirty="0">
                        <a:latin typeface="Times New Roman" panose="02020603050405020304" pitchFamily="18" charset="0"/>
                        <a:cs typeface="Times New Roman" panose="02020603050405020304" pitchFamily="18" charset="0"/>
                      </a:endParaRPr>
                    </a:p>
                  </a:txBody>
                  <a:tcPr anchor="ctr">
                    <a:solidFill>
                      <a:schemeClr val="bg1">
                        <a:lumMod val="95000"/>
                      </a:schemeClr>
                    </a:solidFill>
                  </a:tcPr>
                </a:tc>
                <a:extLst>
                  <a:ext uri="{0D108BD9-81ED-4DB2-BD59-A6C34878D82A}">
                    <a16:rowId xmlns:a16="http://schemas.microsoft.com/office/drawing/2014/main" val="10001"/>
                  </a:ext>
                </a:extLst>
              </a:tr>
              <a:tr h="2070513">
                <a:tc>
                  <a:txBody>
                    <a:bodyPr/>
                    <a:lstStyle/>
                    <a:p>
                      <a:pPr algn="ctr">
                        <a:lnSpc>
                          <a:spcPct val="200000"/>
                        </a:lnSpc>
                      </a:pPr>
                      <a:r>
                        <a:rPr lang="en-IN" sz="1900">
                          <a:latin typeface="Times New Roman" panose="02020603050405020304" pitchFamily="18" charset="0"/>
                          <a:cs typeface="Times New Roman" panose="02020603050405020304" pitchFamily="18" charset="0"/>
                        </a:rPr>
                        <a:t>2)</a:t>
                      </a:r>
                      <a:endParaRPr lang="en-US" sz="1900" dirty="0">
                        <a:latin typeface="Times New Roman" panose="02020603050405020304" pitchFamily="18" charset="0"/>
                        <a:cs typeface="Times New Roman" panose="02020603050405020304" pitchFamily="18" charset="0"/>
                      </a:endParaRPr>
                    </a:p>
                  </a:txBody>
                  <a:tcPr anchor="ctr">
                    <a:solidFill>
                      <a:schemeClr val="bg1">
                        <a:lumMod val="95000"/>
                      </a:schemeClr>
                    </a:solidFill>
                  </a:tcPr>
                </a:tc>
                <a:tc>
                  <a:txBody>
                    <a:bodyPr/>
                    <a:lstStyle/>
                    <a:p>
                      <a:pPr algn="ctr"/>
                      <a:r>
                        <a:rPr lang="en-US" sz="1700" dirty="0" err="1">
                          <a:effectLst/>
                          <a:latin typeface="Times New Roman" panose="02020603050405020304" pitchFamily="18" charset="0"/>
                          <a:cs typeface="Times New Roman" panose="02020603050405020304" pitchFamily="18" charset="0"/>
                        </a:rPr>
                        <a:t>Multisensor</a:t>
                      </a:r>
                      <a:r>
                        <a:rPr lang="en-US" sz="1700" dirty="0">
                          <a:effectLst/>
                          <a:latin typeface="Times New Roman" panose="02020603050405020304" pitchFamily="18" charset="0"/>
                          <a:cs typeface="Times New Roman" panose="02020603050405020304" pitchFamily="18" charset="0"/>
                        </a:rPr>
                        <a:t> Remote Sensing and AI-Driven Analysis for Coastal and Urban Resilience Classification.</a:t>
                      </a:r>
                      <a:endParaRPr lang="en-US" sz="1700" b="0" i="0" dirty="0">
                        <a:solidFill>
                          <a:schemeClr val="dk1"/>
                        </a:solidFill>
                        <a:effectLst/>
                        <a:latin typeface="Times New Roman" panose="02020603050405020304" pitchFamily="18" charset="0"/>
                        <a:ea typeface="+mn-ea"/>
                        <a:cs typeface="Times New Roman" panose="02020603050405020304" pitchFamily="18" charset="0"/>
                      </a:endParaRPr>
                    </a:p>
                  </a:txBody>
                  <a:tcPr anchor="ctr">
                    <a:solidFill>
                      <a:schemeClr val="bg1">
                        <a:lumMod val="95000"/>
                      </a:schemeClr>
                    </a:solidFill>
                  </a:tcPr>
                </a:tc>
                <a:tc>
                  <a:txBody>
                    <a:bodyPr/>
                    <a:lstStyle/>
                    <a:p>
                      <a:pPr algn="just"/>
                      <a:r>
                        <a:rPr lang="en-US" sz="1700" dirty="0">
                          <a:latin typeface="Times New Roman" panose="02020603050405020304" pitchFamily="18" charset="0"/>
                          <a:cs typeface="Times New Roman" panose="02020603050405020304" pitchFamily="18" charset="0"/>
                        </a:rPr>
                        <a:t>The study presents an LSTM-based deep learning model using ocean current and remote sensing data to assess urban and coastal resilience. It outperforms traditional methods and offers a scalable tool for climate adaptation and urban planning.</a:t>
                      </a:r>
                      <a:endParaRPr lang="en-US" sz="1700" b="0" dirty="0">
                        <a:latin typeface="Times New Roman" panose="02020603050405020304" pitchFamily="18" charset="0"/>
                        <a:cs typeface="Times New Roman" panose="02020603050405020304" pitchFamily="18" charset="0"/>
                      </a:endParaRPr>
                    </a:p>
                  </a:txBody>
                  <a:tcPr>
                    <a:solidFill>
                      <a:schemeClr val="bg1">
                        <a:lumMod val="95000"/>
                      </a:schemeClr>
                    </a:solidFill>
                  </a:tcPr>
                </a:tc>
                <a:tc>
                  <a:txBody>
                    <a:bodyPr/>
                    <a:lstStyle/>
                    <a:p>
                      <a:pPr marL="0" marR="0" lvl="0" indent="0" algn="ctr" defTabSz="914400" eaLnBrk="1" fontAlgn="auto" latinLnBrk="0" hangingPunct="1">
                        <a:lnSpc>
                          <a:spcPct val="100000"/>
                        </a:lnSpc>
                        <a:spcBef>
                          <a:spcPts val="0"/>
                        </a:spcBef>
                        <a:spcAft>
                          <a:spcPts val="0"/>
                        </a:spcAft>
                        <a:buClrTx/>
                        <a:buSzTx/>
                        <a:buFont typeface="+mj-lt"/>
                        <a:buNone/>
                        <a:defRPr/>
                      </a:pPr>
                      <a:r>
                        <a:rPr lang="en-IN" sz="1700" dirty="0" err="1">
                          <a:latin typeface="Times New Roman" panose="02020603050405020304" pitchFamily="18" charset="0"/>
                          <a:cs typeface="Times New Roman" panose="02020603050405020304" pitchFamily="18" charset="0"/>
                        </a:rPr>
                        <a:t>Sumei</a:t>
                      </a:r>
                      <a:r>
                        <a:rPr lang="en-IN" sz="1700" dirty="0">
                          <a:latin typeface="Times New Roman" panose="02020603050405020304" pitchFamily="18" charset="0"/>
                          <a:cs typeface="Times New Roman" panose="02020603050405020304" pitchFamily="18" charset="0"/>
                        </a:rPr>
                        <a:t> Ren, Bushra Ghaffar, Muhammad </a:t>
                      </a:r>
                      <a:r>
                        <a:rPr lang="en-IN" sz="1700" dirty="0" err="1">
                          <a:latin typeface="Times New Roman" panose="02020603050405020304" pitchFamily="18" charset="0"/>
                          <a:cs typeface="Times New Roman" panose="02020603050405020304" pitchFamily="18" charset="0"/>
                        </a:rPr>
                        <a:t>Mubbin</a:t>
                      </a:r>
                      <a:r>
                        <a:rPr lang="en-IN" sz="1700" dirty="0">
                          <a:latin typeface="Times New Roman" panose="02020603050405020304" pitchFamily="18" charset="0"/>
                          <a:cs typeface="Times New Roman" panose="02020603050405020304" pitchFamily="18" charset="0"/>
                        </a:rPr>
                        <a:t>, Dmitry E. </a:t>
                      </a:r>
                      <a:r>
                        <a:rPr lang="en-IN" sz="1700" dirty="0" err="1">
                          <a:latin typeface="Times New Roman" panose="02020603050405020304" pitchFamily="18" charset="0"/>
                          <a:cs typeface="Times New Roman" panose="02020603050405020304" pitchFamily="18" charset="0"/>
                        </a:rPr>
                        <a:t>Kucher</a:t>
                      </a:r>
                      <a:r>
                        <a:rPr lang="en-IN" sz="1700" dirty="0">
                          <a:latin typeface="Times New Roman" panose="02020603050405020304" pitchFamily="18" charset="0"/>
                          <a:cs typeface="Times New Roman" panose="02020603050405020304" pitchFamily="18" charset="0"/>
                        </a:rPr>
                        <a:t>, Muhammad Haseeb, Olga D. </a:t>
                      </a:r>
                      <a:r>
                        <a:rPr lang="en-IN" sz="1700" dirty="0" err="1">
                          <a:latin typeface="Times New Roman" panose="02020603050405020304" pitchFamily="18" charset="0"/>
                          <a:cs typeface="Times New Roman" panose="02020603050405020304" pitchFamily="18" charset="0"/>
                        </a:rPr>
                        <a:t>Kucher</a:t>
                      </a:r>
                      <a:r>
                        <a:rPr lang="en-IN" sz="1700" dirty="0">
                          <a:latin typeface="Times New Roman" panose="02020603050405020304" pitchFamily="18" charset="0"/>
                          <a:cs typeface="Times New Roman" panose="02020603050405020304" pitchFamily="18" charset="0"/>
                        </a:rPr>
                        <a:t>, Zainab Tahir, M. Abdullah-Al-</a:t>
                      </a:r>
                      <a:r>
                        <a:rPr lang="en-IN" sz="1700" dirty="0" err="1">
                          <a:latin typeface="Times New Roman" panose="02020603050405020304" pitchFamily="18" charset="0"/>
                          <a:cs typeface="Times New Roman" panose="02020603050405020304" pitchFamily="18" charset="0"/>
                        </a:rPr>
                        <a:t>Wadud</a:t>
                      </a:r>
                      <a:endParaRPr lang="en-IN" sz="1700" b="0" i="0" dirty="0">
                        <a:solidFill>
                          <a:schemeClr val="dk1"/>
                        </a:solidFill>
                        <a:effectLst/>
                        <a:latin typeface="Times New Roman" panose="02020603050405020304" pitchFamily="18" charset="0"/>
                        <a:ea typeface="+mn-ea"/>
                        <a:cs typeface="Times New Roman" panose="02020603050405020304" pitchFamily="18" charset="0"/>
                      </a:endParaRPr>
                    </a:p>
                  </a:txBody>
                  <a:tcPr>
                    <a:solidFill>
                      <a:schemeClr val="bg1">
                        <a:lumMod val="95000"/>
                      </a:schemeClr>
                    </a:solidFill>
                  </a:tcPr>
                </a:tc>
                <a:tc>
                  <a:txBody>
                    <a:bodyPr/>
                    <a:lstStyle/>
                    <a:p>
                      <a:pPr algn="ctr"/>
                      <a:r>
                        <a:rPr lang="en-IN" sz="1900" dirty="0">
                          <a:latin typeface="Times New Roman" panose="02020603050405020304" pitchFamily="18" charset="0"/>
                          <a:cs typeface="Times New Roman" panose="02020603050405020304" pitchFamily="18" charset="0"/>
                        </a:rPr>
                        <a:t>2025</a:t>
                      </a:r>
                      <a:endParaRPr lang="en-US" sz="1900" dirty="0">
                        <a:latin typeface="Times New Roman" panose="02020603050405020304" pitchFamily="18" charset="0"/>
                        <a:cs typeface="Times New Roman" panose="02020603050405020304" pitchFamily="18" charset="0"/>
                      </a:endParaRPr>
                    </a:p>
                  </a:txBody>
                  <a:tcPr anchor="ctr">
                    <a:solidFill>
                      <a:schemeClr val="bg1">
                        <a:lumMod val="95000"/>
                      </a:schemeClr>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p:nvPr/>
        </p:nvSpPr>
        <p:spPr>
          <a:xfrm>
            <a:off x="912811" y="634413"/>
            <a:ext cx="7318375" cy="553998"/>
          </a:xfrm>
          <a:prstGeom prst="rect">
            <a:avLst/>
          </a:prstGeom>
        </p:spPr>
        <p:txBody>
          <a:bodyPr vert="horz" lIns="91440" tIns="45720" rIns="91440" bIns="45720" rtlCol="0" anchor="b">
            <a:normAutofit fontScale="7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b="1" dirty="0">
                <a:latin typeface="Times New Roman" panose="02020603050405020304" pitchFamily="18" charset="0"/>
                <a:cs typeface="Times New Roman" panose="02020603050405020304" pitchFamily="18" charset="0"/>
              </a:rPr>
              <a:t>PROBLEM STATEMENT</a:t>
            </a:r>
          </a:p>
        </p:txBody>
      </p:sp>
      <p:sp>
        <p:nvSpPr>
          <p:cNvPr id="6" name="Text Placeholder 2"/>
          <p:cNvSpPr txBox="1"/>
          <p:nvPr/>
        </p:nvSpPr>
        <p:spPr>
          <a:xfrm>
            <a:off x="457199" y="1828470"/>
            <a:ext cx="8229600" cy="411247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41300" indent="457200" algn="just">
              <a:lnSpc>
                <a:spcPct val="100000"/>
              </a:lnSpc>
              <a:spcBef>
                <a:spcPts val="75"/>
              </a:spcBef>
            </a:pPr>
            <a:r>
              <a:rPr lang="en-US" altLang="en-US" sz="2000" dirty="0">
                <a:latin typeface="Times New Roman" panose="02020603050405020304" pitchFamily="18" charset="0"/>
                <a:cs typeface="Times New Roman" panose="02020603050405020304" pitchFamily="18" charset="0"/>
              </a:rPr>
              <a:t>Traditional disaster management systems suffer from delayed response times, inaccurate predictions, and fragmented coordination, leading to inefficient emergency handling and increased casualties. They rely heavily on historical data and lack real-time monitoring capabilities, making it difficult to predict disasters accurately.</a:t>
            </a:r>
          </a:p>
          <a:p>
            <a:pPr marL="241300" indent="457200" algn="just">
              <a:lnSpc>
                <a:spcPct val="100000"/>
              </a:lnSpc>
              <a:spcBef>
                <a:spcPts val="75"/>
              </a:spcBef>
            </a:pPr>
            <a:endParaRPr lang="en-US" altLang="en-US" sz="2000" dirty="0">
              <a:latin typeface="Times New Roman" panose="02020603050405020304" pitchFamily="18" charset="0"/>
              <a:cs typeface="Times New Roman" panose="02020603050405020304" pitchFamily="18" charset="0"/>
            </a:endParaRPr>
          </a:p>
          <a:p>
            <a:pPr marL="241300" indent="457200" algn="just">
              <a:lnSpc>
                <a:spcPct val="100000"/>
              </a:lnSpc>
              <a:spcBef>
                <a:spcPts val="75"/>
              </a:spcBef>
            </a:pPr>
            <a:r>
              <a:rPr lang="en-US" altLang="en-US" sz="2000" dirty="0">
                <a:latin typeface="Times New Roman" panose="02020603050405020304" pitchFamily="18" charset="0"/>
                <a:cs typeface="Times New Roman" panose="02020603050405020304" pitchFamily="18" charset="0"/>
              </a:rPr>
              <a:t>Additionally, false incident reports, lack of environmental risk assessment, and limited integration with local communities contribute to poor disaster preparedness. The absence of a unified platform for data-driven risk assessment, crowdsourced incident reporting, and environmental analysis creates gaps in disaster response and resilience.</a:t>
            </a:r>
          </a:p>
        </p:txBody>
      </p:sp>
    </p:spTree>
    <p:extLst>
      <p:ext uri="{BB962C8B-B14F-4D97-AF65-F5344CB8AC3E}">
        <p14:creationId xmlns:p14="http://schemas.microsoft.com/office/powerpoint/2010/main" val="25214558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56047" y="550238"/>
            <a:ext cx="7631906" cy="954107"/>
          </a:xfrm>
          <a:prstGeom prst="rect">
            <a:avLst/>
          </a:prstGeom>
          <a:noFill/>
        </p:spPr>
        <p:txBody>
          <a:bodyPr wrap="square" rtlCol="0">
            <a:spAutoFit/>
          </a:bodyPr>
          <a:lstStyle/>
          <a:p>
            <a:r>
              <a:rPr lang="en-US" sz="2000" b="1" spc="-15" dirty="0">
                <a:latin typeface="Times New Roman" panose="02020603050405020304"/>
                <a:cs typeface="Times New Roman" panose="02020603050405020304"/>
              </a:rPr>
              <a:t>                         </a:t>
            </a:r>
            <a:r>
              <a:rPr lang="en-US" sz="3600" b="1" spc="-15" dirty="0">
                <a:latin typeface="Times New Roman" panose="02020603050405020304"/>
                <a:cs typeface="Times New Roman" panose="02020603050405020304"/>
              </a:rPr>
              <a:t>EXISTIN</a:t>
            </a:r>
            <a:r>
              <a:rPr lang="en-US" sz="3600" b="1" spc="-25" dirty="0">
                <a:latin typeface="Times New Roman" panose="02020603050405020304"/>
                <a:cs typeface="Times New Roman" panose="02020603050405020304"/>
              </a:rPr>
              <a:t>G</a:t>
            </a:r>
            <a:r>
              <a:rPr lang="en-US" sz="3600" b="1" spc="-5" dirty="0">
                <a:latin typeface="Times New Roman" panose="02020603050405020304"/>
                <a:cs typeface="Times New Roman" panose="02020603050405020304"/>
              </a:rPr>
              <a:t> </a:t>
            </a:r>
            <a:r>
              <a:rPr lang="en-US" sz="3600" b="1" spc="-20" dirty="0">
                <a:latin typeface="Times New Roman" panose="02020603050405020304"/>
                <a:cs typeface="Times New Roman" panose="02020603050405020304"/>
              </a:rPr>
              <a:t>SYS</a:t>
            </a:r>
            <a:r>
              <a:rPr lang="en-US" sz="3600" b="1" spc="-15" dirty="0">
                <a:latin typeface="Times New Roman" panose="02020603050405020304"/>
                <a:cs typeface="Times New Roman" panose="02020603050405020304"/>
              </a:rPr>
              <a:t>T</a:t>
            </a:r>
            <a:r>
              <a:rPr lang="en-US" sz="3600" b="1" spc="-25" dirty="0">
                <a:latin typeface="Times New Roman" panose="02020603050405020304"/>
                <a:cs typeface="Times New Roman" panose="02020603050405020304"/>
              </a:rPr>
              <a:t>EM</a:t>
            </a:r>
          </a:p>
          <a:p>
            <a:endParaRPr lang="en-US" sz="2000" dirty="0"/>
          </a:p>
        </p:txBody>
      </p:sp>
      <p:sp>
        <p:nvSpPr>
          <p:cNvPr id="5" name="TextBox 4"/>
          <p:cNvSpPr txBox="1"/>
          <p:nvPr/>
        </p:nvSpPr>
        <p:spPr>
          <a:xfrm>
            <a:off x="739775" y="1541606"/>
            <a:ext cx="7741617" cy="4401205"/>
          </a:xfrm>
          <a:prstGeom prst="rect">
            <a:avLst/>
          </a:prstGeom>
          <a:noFill/>
        </p:spPr>
        <p:txBody>
          <a:bodyPr wrap="square" rtlCol="0">
            <a:spAutoFit/>
          </a:bodyPr>
          <a:lstStyle/>
          <a:p>
            <a:pPr marL="342900" indent="-342900" algn="just">
              <a:buFont typeface="Wingdings" panose="05000000000000000000" pitchFamily="2" charset="2"/>
              <a:buChar char="ü"/>
            </a:pPr>
            <a:r>
              <a:rPr lang="en-US" sz="2000" b="1" dirty="0">
                <a:latin typeface="Times New Roman" panose="02020603050405020304" pitchFamily="18" charset="0"/>
                <a:cs typeface="Times New Roman" panose="02020603050405020304" pitchFamily="18" charset="0"/>
              </a:rPr>
              <a:t>Fragmented Data Sources: </a:t>
            </a:r>
            <a:r>
              <a:rPr lang="en-US" sz="2000" dirty="0">
                <a:latin typeface="Times New Roman" panose="02020603050405020304" pitchFamily="18" charset="0"/>
                <a:cs typeface="Times New Roman" panose="02020603050405020304" pitchFamily="18" charset="0"/>
              </a:rPr>
              <a:t>Climate and erosion data are scattered across multiple platforms with no unified system.</a:t>
            </a:r>
          </a:p>
          <a:p>
            <a:pPr marL="342900" indent="-342900" algn="just">
              <a:buFont typeface="Wingdings" panose="05000000000000000000" pitchFamily="2" charset="2"/>
              <a:buChar char="ü"/>
            </a:pPr>
            <a:endParaRPr lang="en-US"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ü"/>
            </a:pPr>
            <a:r>
              <a:rPr lang="en-US" sz="2000" b="1" dirty="0">
                <a:latin typeface="Times New Roman" panose="02020603050405020304" pitchFamily="18" charset="0"/>
                <a:cs typeface="Times New Roman" panose="02020603050405020304" pitchFamily="18" charset="0"/>
              </a:rPr>
              <a:t>Lack of Predictive Capabilities</a:t>
            </a:r>
            <a:r>
              <a:rPr lang="en-US" sz="2000" dirty="0">
                <a:latin typeface="Times New Roman" panose="02020603050405020304" pitchFamily="18" charset="0"/>
                <a:cs typeface="Times New Roman" panose="02020603050405020304" pitchFamily="18" charset="0"/>
              </a:rPr>
              <a:t>: Current methods react to disasters rather than proactively predicting risks.</a:t>
            </a:r>
          </a:p>
          <a:p>
            <a:pPr marL="342900" indent="-342900" algn="just">
              <a:buFont typeface="Wingdings" panose="05000000000000000000" pitchFamily="2" charset="2"/>
              <a:buChar char="ü"/>
            </a:pPr>
            <a:endParaRPr lang="en-US"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ü"/>
            </a:pPr>
            <a:r>
              <a:rPr lang="en-US" sz="2000" b="1" dirty="0">
                <a:latin typeface="Times New Roman" panose="02020603050405020304" pitchFamily="18" charset="0"/>
                <a:cs typeface="Times New Roman" panose="02020603050405020304" pitchFamily="18" charset="0"/>
              </a:rPr>
              <a:t>Manual Decision-Making: </a:t>
            </a:r>
            <a:r>
              <a:rPr lang="en-US" sz="2000" dirty="0">
                <a:latin typeface="Times New Roman" panose="02020603050405020304" pitchFamily="18" charset="0"/>
                <a:cs typeface="Times New Roman" panose="02020603050405020304" pitchFamily="18" charset="0"/>
              </a:rPr>
              <a:t>Shelter belt plantation sites are selected based on outdated techniques.</a:t>
            </a:r>
          </a:p>
          <a:p>
            <a:pPr marL="342900" indent="-342900" algn="just">
              <a:buFont typeface="Wingdings" panose="05000000000000000000" pitchFamily="2" charset="2"/>
              <a:buChar char="ü"/>
            </a:pPr>
            <a:endParaRPr lang="en-US"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ü"/>
            </a:pPr>
            <a:r>
              <a:rPr lang="en-US" sz="2000" b="1" dirty="0">
                <a:latin typeface="Times New Roman" panose="02020603050405020304" pitchFamily="18" charset="0"/>
                <a:cs typeface="Times New Roman" panose="02020603050405020304" pitchFamily="18" charset="0"/>
              </a:rPr>
              <a:t>Limited Community Involvement</a:t>
            </a:r>
            <a:r>
              <a:rPr lang="en-US" sz="2000" dirty="0">
                <a:latin typeface="Times New Roman" panose="02020603050405020304" pitchFamily="18" charset="0"/>
                <a:cs typeface="Times New Roman" panose="02020603050405020304" pitchFamily="18" charset="0"/>
              </a:rPr>
              <a:t>: No real-time crowdsourced reporting on disaster impact.</a:t>
            </a:r>
          </a:p>
          <a:p>
            <a:pPr marL="342900" indent="-342900" algn="just">
              <a:buFont typeface="Wingdings" panose="05000000000000000000" pitchFamily="2" charset="2"/>
              <a:buChar char="ü"/>
            </a:pPr>
            <a:endParaRPr lang="en-US"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ü"/>
            </a:pPr>
            <a:r>
              <a:rPr lang="en-US" sz="2000" b="1" dirty="0">
                <a:latin typeface="Times New Roman" panose="02020603050405020304" pitchFamily="18" charset="0"/>
                <a:cs typeface="Times New Roman" panose="02020603050405020304" pitchFamily="18" charset="0"/>
              </a:rPr>
              <a:t>Absence of Integrated Carbon Accounting: </a:t>
            </a:r>
            <a:r>
              <a:rPr lang="en-US" sz="2000" dirty="0">
                <a:latin typeface="Times New Roman" panose="02020603050405020304" pitchFamily="18" charset="0"/>
                <a:cs typeface="Times New Roman" panose="02020603050405020304" pitchFamily="18" charset="0"/>
              </a:rPr>
              <a:t>No structured tracking of plantation benefits on climate mitigation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39775" y="685800"/>
            <a:ext cx="7631906" cy="954107"/>
          </a:xfrm>
          <a:prstGeom prst="rect">
            <a:avLst/>
          </a:prstGeom>
          <a:noFill/>
        </p:spPr>
        <p:txBody>
          <a:bodyPr wrap="square" rtlCol="0">
            <a:spAutoFit/>
          </a:bodyPr>
          <a:lstStyle/>
          <a:p>
            <a:r>
              <a:rPr lang="en-US" sz="2000" b="1" spc="-15" dirty="0">
                <a:latin typeface="Times New Roman" panose="02020603050405020304"/>
                <a:cs typeface="Times New Roman" panose="02020603050405020304"/>
              </a:rPr>
              <a:t>                         </a:t>
            </a:r>
            <a:r>
              <a:rPr lang="en-US" sz="3600" b="1" spc="-15" dirty="0">
                <a:latin typeface="Times New Roman" panose="02020603050405020304"/>
                <a:cs typeface="Times New Roman" panose="02020603050405020304"/>
              </a:rPr>
              <a:t>DISADVANTAGES</a:t>
            </a:r>
            <a:endParaRPr lang="en-US" sz="3600" b="1" spc="-25" dirty="0">
              <a:latin typeface="Times New Roman" panose="02020603050405020304"/>
              <a:cs typeface="Times New Roman" panose="02020603050405020304"/>
            </a:endParaRPr>
          </a:p>
          <a:p>
            <a:endParaRPr lang="en-US" sz="2000" dirty="0"/>
          </a:p>
        </p:txBody>
      </p:sp>
      <p:sp>
        <p:nvSpPr>
          <p:cNvPr id="5" name="TextBox 4"/>
          <p:cNvSpPr txBox="1"/>
          <p:nvPr/>
        </p:nvSpPr>
        <p:spPr>
          <a:xfrm>
            <a:off x="1049265" y="2256339"/>
            <a:ext cx="7741617" cy="2345322"/>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Delayed updates via TV, newspapers.</a:t>
            </a:r>
          </a:p>
          <a:p>
            <a:pPr marL="342900" indent="-342900" algn="just">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Difficult to verify on-ground incidents quickly.</a:t>
            </a:r>
          </a:p>
          <a:p>
            <a:pPr marL="342900" indent="-342900" algn="just">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Slow government response.</a:t>
            </a:r>
          </a:p>
          <a:p>
            <a:pPr marL="342900" indent="-342900" algn="just">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Inaccurate location data.</a:t>
            </a:r>
          </a:p>
          <a:p>
            <a:pPr marL="342900" indent="-342900" algn="just">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No platform for community participation.</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50093" y="585630"/>
            <a:ext cx="7631906" cy="954107"/>
          </a:xfrm>
          <a:prstGeom prst="rect">
            <a:avLst/>
          </a:prstGeom>
          <a:noFill/>
        </p:spPr>
        <p:txBody>
          <a:bodyPr wrap="square" rtlCol="0">
            <a:spAutoFit/>
          </a:bodyPr>
          <a:lstStyle/>
          <a:p>
            <a:r>
              <a:rPr lang="en-US" sz="2000" b="1" spc="-15" dirty="0">
                <a:latin typeface="Times New Roman" panose="02020603050405020304"/>
                <a:cs typeface="Times New Roman" panose="02020603050405020304"/>
              </a:rPr>
              <a:t>                         </a:t>
            </a:r>
            <a:r>
              <a:rPr lang="en-US" sz="3600" b="1" spc="-15" dirty="0">
                <a:latin typeface="Times New Roman" panose="02020603050405020304"/>
                <a:cs typeface="Times New Roman" panose="02020603050405020304"/>
              </a:rPr>
              <a:t>PROPOSED </a:t>
            </a:r>
            <a:r>
              <a:rPr lang="en-US" sz="3600" b="1" spc="-20" dirty="0">
                <a:latin typeface="Times New Roman" panose="02020603050405020304"/>
                <a:cs typeface="Times New Roman" panose="02020603050405020304"/>
              </a:rPr>
              <a:t>SYS</a:t>
            </a:r>
            <a:r>
              <a:rPr lang="en-US" sz="3600" b="1" spc="-15" dirty="0">
                <a:latin typeface="Times New Roman" panose="02020603050405020304"/>
                <a:cs typeface="Times New Roman" panose="02020603050405020304"/>
              </a:rPr>
              <a:t>T</a:t>
            </a:r>
            <a:r>
              <a:rPr lang="en-US" sz="3600" b="1" spc="-25" dirty="0">
                <a:latin typeface="Times New Roman" panose="02020603050405020304"/>
                <a:cs typeface="Times New Roman" panose="02020603050405020304"/>
              </a:rPr>
              <a:t>EM</a:t>
            </a:r>
          </a:p>
          <a:p>
            <a:endParaRPr lang="en-US" sz="2000" dirty="0"/>
          </a:p>
        </p:txBody>
      </p:sp>
      <p:sp>
        <p:nvSpPr>
          <p:cNvPr id="5" name="TextBox 4"/>
          <p:cNvSpPr txBox="1"/>
          <p:nvPr/>
        </p:nvSpPr>
        <p:spPr>
          <a:xfrm>
            <a:off x="762000" y="1539737"/>
            <a:ext cx="7631907" cy="4401205"/>
          </a:xfrm>
          <a:prstGeom prst="rect">
            <a:avLst/>
          </a:prstGeom>
          <a:noFill/>
        </p:spPr>
        <p:txBody>
          <a:bodyPr wrap="square" rtlCol="0">
            <a:spAutoFit/>
          </a:bodyPr>
          <a:lstStyle/>
          <a:p>
            <a:pPr marL="342900" indent="-342900" algn="just">
              <a:buFont typeface="Wingdings" panose="05000000000000000000" pitchFamily="2" charset="2"/>
              <a:buChar char="ü"/>
            </a:pPr>
            <a:r>
              <a:rPr lang="en-US" sz="2000" b="1" spc="-15" dirty="0">
                <a:latin typeface="Times New Roman" panose="02020603050405020304"/>
                <a:cs typeface="Times New Roman" panose="02020603050405020304"/>
              </a:rPr>
              <a:t>GIS-based Analysis: </a:t>
            </a:r>
            <a:r>
              <a:rPr lang="en-US" sz="2000" spc="-15" dirty="0">
                <a:latin typeface="Times New Roman" panose="02020603050405020304"/>
                <a:cs typeface="Times New Roman" panose="02020603050405020304"/>
              </a:rPr>
              <a:t>Mapping erosion-prone zones using satellite imagery &amp; geospatial models.</a:t>
            </a:r>
          </a:p>
          <a:p>
            <a:pPr marL="342900" indent="-342900" algn="just">
              <a:buFont typeface="Wingdings" panose="05000000000000000000" pitchFamily="2" charset="2"/>
              <a:buChar char="ü"/>
            </a:pPr>
            <a:endParaRPr lang="en-US" sz="2000" spc="-15" dirty="0">
              <a:latin typeface="Times New Roman" panose="02020603050405020304"/>
              <a:cs typeface="Times New Roman" panose="02020603050405020304"/>
            </a:endParaRPr>
          </a:p>
          <a:p>
            <a:pPr marL="342900" indent="-342900" algn="just">
              <a:buFont typeface="Wingdings" panose="05000000000000000000" pitchFamily="2" charset="2"/>
              <a:buChar char="ü"/>
            </a:pPr>
            <a:r>
              <a:rPr lang="en-US" sz="2000" b="1" spc="-15" dirty="0">
                <a:latin typeface="Times New Roman" panose="02020603050405020304"/>
                <a:cs typeface="Times New Roman" panose="02020603050405020304"/>
              </a:rPr>
              <a:t>AI-Powered Predictions: </a:t>
            </a:r>
            <a:r>
              <a:rPr lang="en-US" sz="2000" spc="-15" dirty="0">
                <a:latin typeface="Times New Roman" panose="02020603050405020304"/>
                <a:cs typeface="Times New Roman" panose="02020603050405020304"/>
              </a:rPr>
              <a:t>Using machine learning algorithms to forecast coastal erosion &amp; disaster risks.</a:t>
            </a:r>
          </a:p>
          <a:p>
            <a:pPr marL="342900" indent="-342900" algn="just">
              <a:buFont typeface="Wingdings" panose="05000000000000000000" pitchFamily="2" charset="2"/>
              <a:buChar char="ü"/>
            </a:pPr>
            <a:endParaRPr lang="en-US" sz="2000" spc="-15" dirty="0">
              <a:latin typeface="Times New Roman" panose="02020603050405020304"/>
              <a:cs typeface="Times New Roman" panose="02020603050405020304"/>
            </a:endParaRPr>
          </a:p>
          <a:p>
            <a:pPr marL="342900" indent="-342900" algn="just">
              <a:buFont typeface="Wingdings" panose="05000000000000000000" pitchFamily="2" charset="2"/>
              <a:buChar char="ü"/>
            </a:pPr>
            <a:r>
              <a:rPr lang="en-US" sz="2000" b="1" spc="-15" dirty="0">
                <a:latin typeface="Times New Roman" panose="02020603050405020304"/>
                <a:cs typeface="Times New Roman" panose="02020603050405020304"/>
              </a:rPr>
              <a:t>Real-Time Alerts: </a:t>
            </a:r>
            <a:r>
              <a:rPr lang="en-US" sz="2000" spc="-15" dirty="0">
                <a:latin typeface="Times New Roman" panose="02020603050405020304"/>
                <a:cs typeface="Times New Roman" panose="02020603050405020304"/>
              </a:rPr>
              <a:t>Mobile app integrated with Firebase Cloud Messaging for disaster warnings.</a:t>
            </a:r>
          </a:p>
          <a:p>
            <a:pPr marL="342900" indent="-342900" algn="just">
              <a:buFont typeface="Wingdings" panose="05000000000000000000" pitchFamily="2" charset="2"/>
              <a:buChar char="ü"/>
            </a:pPr>
            <a:endParaRPr lang="en-US" sz="2000" spc="-15" dirty="0">
              <a:latin typeface="Times New Roman" panose="02020603050405020304"/>
              <a:cs typeface="Times New Roman" panose="02020603050405020304"/>
            </a:endParaRPr>
          </a:p>
          <a:p>
            <a:pPr marL="342900" indent="-342900" algn="just">
              <a:buFont typeface="Wingdings" panose="05000000000000000000" pitchFamily="2" charset="2"/>
              <a:buChar char="ü"/>
            </a:pPr>
            <a:r>
              <a:rPr lang="en-US" sz="2000" b="1" spc="-15" dirty="0">
                <a:latin typeface="Times New Roman" panose="02020603050405020304"/>
                <a:cs typeface="Times New Roman" panose="02020603050405020304"/>
              </a:rPr>
              <a:t>Crowdsourced Reporting: </a:t>
            </a:r>
            <a:r>
              <a:rPr lang="en-US" sz="2000" spc="-15" dirty="0">
                <a:latin typeface="Times New Roman" panose="02020603050405020304"/>
                <a:cs typeface="Times New Roman" panose="02020603050405020304"/>
              </a:rPr>
              <a:t>Communities contribute real-time updates on disaster impacts via the app.</a:t>
            </a:r>
          </a:p>
          <a:p>
            <a:pPr marL="342900" indent="-342900" algn="just">
              <a:buFont typeface="Wingdings" panose="05000000000000000000" pitchFamily="2" charset="2"/>
              <a:buChar char="ü"/>
            </a:pPr>
            <a:endParaRPr lang="en-US" sz="2000" spc="-15" dirty="0">
              <a:latin typeface="Times New Roman" panose="02020603050405020304"/>
              <a:cs typeface="Times New Roman" panose="02020603050405020304"/>
            </a:endParaRPr>
          </a:p>
          <a:p>
            <a:pPr marL="342900" indent="-342900" algn="just">
              <a:buFont typeface="Wingdings" panose="05000000000000000000" pitchFamily="2" charset="2"/>
              <a:buChar char="ü"/>
            </a:pPr>
            <a:r>
              <a:rPr lang="en-US" sz="2000" b="1" spc="-15" dirty="0">
                <a:latin typeface="Times New Roman" panose="02020603050405020304"/>
                <a:cs typeface="Times New Roman" panose="02020603050405020304"/>
              </a:rPr>
              <a:t>Carbon Accounting Dashboard: </a:t>
            </a:r>
            <a:r>
              <a:rPr lang="en-US" sz="2000" spc="-15" dirty="0">
                <a:latin typeface="Times New Roman" panose="02020603050405020304"/>
                <a:cs typeface="Times New Roman" panose="02020603050405020304"/>
              </a:rPr>
              <a:t>Tracks shelter belt plantations' environmental impact using AI models.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39775" y="685800"/>
            <a:ext cx="7631906" cy="954107"/>
          </a:xfrm>
          <a:prstGeom prst="rect">
            <a:avLst/>
          </a:prstGeom>
          <a:noFill/>
        </p:spPr>
        <p:txBody>
          <a:bodyPr wrap="square" rtlCol="0">
            <a:spAutoFit/>
          </a:bodyPr>
          <a:lstStyle/>
          <a:p>
            <a:r>
              <a:rPr lang="en-US" sz="2000" b="1" spc="-15" dirty="0">
                <a:latin typeface="Times New Roman" panose="02020603050405020304"/>
                <a:cs typeface="Times New Roman" panose="02020603050405020304"/>
              </a:rPr>
              <a:t>                         </a:t>
            </a:r>
            <a:r>
              <a:rPr lang="en-US" sz="3600" b="1" spc="-15" dirty="0">
                <a:latin typeface="Times New Roman" panose="02020603050405020304"/>
                <a:cs typeface="Times New Roman" panose="02020603050405020304"/>
              </a:rPr>
              <a:t>     ADVANTAGES</a:t>
            </a:r>
            <a:endParaRPr lang="en-US" sz="3600" b="1" spc="-25" dirty="0">
              <a:latin typeface="Times New Roman" panose="02020603050405020304"/>
              <a:cs typeface="Times New Roman" panose="02020603050405020304"/>
            </a:endParaRPr>
          </a:p>
          <a:p>
            <a:endParaRPr lang="en-US" sz="2000" dirty="0"/>
          </a:p>
        </p:txBody>
      </p:sp>
      <p:sp>
        <p:nvSpPr>
          <p:cNvPr id="5" name="TextBox 4"/>
          <p:cNvSpPr txBox="1"/>
          <p:nvPr/>
        </p:nvSpPr>
        <p:spPr>
          <a:xfrm>
            <a:off x="1049265" y="2025506"/>
            <a:ext cx="7741617" cy="2806987"/>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Identify erosion-prone zones.</a:t>
            </a:r>
          </a:p>
          <a:p>
            <a:pPr marL="342900" indent="-342900" algn="just">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Suggest areas for shelterbelt plantations.</a:t>
            </a:r>
          </a:p>
          <a:p>
            <a:pPr marL="342900" indent="-342900" algn="just">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Track shelterbelt density changes.</a:t>
            </a:r>
          </a:p>
          <a:p>
            <a:pPr marL="342900" indent="-342900" algn="just">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Estimate carbon sequestration potential.</a:t>
            </a:r>
          </a:p>
          <a:p>
            <a:pPr marL="342900" indent="-342900" algn="just">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Send notifications based on region and disaster type.</a:t>
            </a:r>
          </a:p>
          <a:p>
            <a:pPr algn="just">
              <a:lnSpc>
                <a:spcPct val="150000"/>
              </a:lnSpc>
            </a:pP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589409" y="457200"/>
            <a:ext cx="6378328" cy="646331"/>
          </a:xfrm>
          <a:prstGeom prst="rect">
            <a:avLst/>
          </a:prstGeom>
          <a:noFill/>
        </p:spPr>
        <p:txBody>
          <a:bodyPr wrap="square" rtlCol="0">
            <a:spAutoFit/>
          </a:bodyPr>
          <a:lstStyle/>
          <a:p>
            <a:r>
              <a:rPr lang="en-IN" sz="3600" b="1" dirty="0">
                <a:latin typeface="Times New Roman" panose="02020603050405020304" pitchFamily="18" charset="0"/>
                <a:cs typeface="Times New Roman" panose="02020603050405020304" pitchFamily="18" charset="0"/>
              </a:rPr>
              <a:t>SYSTEM REQUIREMENTS</a:t>
            </a:r>
            <a:endParaRPr lang="en-US" sz="3600" b="1" dirty="0">
              <a:latin typeface="Times New Roman" panose="02020603050405020304" pitchFamily="18" charset="0"/>
              <a:cs typeface="Times New Roman" panose="02020603050405020304" pitchFamily="18" charset="0"/>
            </a:endParaRPr>
          </a:p>
        </p:txBody>
      </p:sp>
      <p:sp>
        <p:nvSpPr>
          <p:cNvPr id="5" name="TextBox 4"/>
          <p:cNvSpPr txBox="1"/>
          <p:nvPr/>
        </p:nvSpPr>
        <p:spPr>
          <a:xfrm>
            <a:off x="795129" y="1481691"/>
            <a:ext cx="4653801" cy="477054"/>
          </a:xfrm>
          <a:prstGeom prst="rect">
            <a:avLst/>
          </a:prstGeom>
          <a:noFill/>
        </p:spPr>
        <p:txBody>
          <a:bodyPr wrap="square" rtlCol="0">
            <a:spAutoFit/>
          </a:bodyPr>
          <a:lstStyle/>
          <a:p>
            <a:r>
              <a:rPr lang="en-IN" sz="2500" b="1" dirty="0">
                <a:latin typeface="Times New Roman" panose="02020603050405020304" pitchFamily="18" charset="0"/>
                <a:cs typeface="Times New Roman" panose="02020603050405020304" pitchFamily="18" charset="0"/>
              </a:rPr>
              <a:t>Hardware Requirements:</a:t>
            </a:r>
            <a:endParaRPr lang="en-US" sz="2500" b="1" dirty="0">
              <a:latin typeface="Times New Roman" panose="02020603050405020304" pitchFamily="18" charset="0"/>
              <a:cs typeface="Times New Roman" panose="02020603050405020304" pitchFamily="18" charset="0"/>
            </a:endParaRPr>
          </a:p>
        </p:txBody>
      </p:sp>
      <p:sp>
        <p:nvSpPr>
          <p:cNvPr id="6" name="Content Placeholder 8"/>
          <p:cNvSpPr txBox="1"/>
          <p:nvPr/>
        </p:nvSpPr>
        <p:spPr>
          <a:xfrm>
            <a:off x="1309467" y="2453769"/>
            <a:ext cx="6324600" cy="299214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ü"/>
            </a:pPr>
            <a:r>
              <a:rPr lang="it-IT" sz="2000" dirty="0">
                <a:latin typeface="Times New Roman" panose="02020603050405020304" pitchFamily="18" charset="0"/>
                <a:cs typeface="Times New Roman" panose="02020603050405020304" pitchFamily="18" charset="0"/>
              </a:rPr>
              <a:t> Processor : Intel core i5 processor</a:t>
            </a:r>
          </a:p>
          <a:p>
            <a:pPr>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 RAM : 8GB </a:t>
            </a:r>
            <a:endParaRPr lang="it-IT"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it-IT" sz="2000" dirty="0">
                <a:latin typeface="Times New Roman" panose="02020603050405020304" pitchFamily="18" charset="0"/>
                <a:cs typeface="Times New Roman" panose="02020603050405020304" pitchFamily="18" charset="0"/>
              </a:rPr>
              <a:t> Hard disk : 512 GB </a:t>
            </a:r>
          </a:p>
          <a:p>
            <a:pPr>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 Operating system : Windows 10 or later.</a:t>
            </a:r>
          </a:p>
          <a:p>
            <a:pPr>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 Devices: Android smartphones with camera and GPS enabled.</a:t>
            </a:r>
          </a:p>
          <a:p>
            <a:pPr>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 Network: Broadband Internet (at least 20+ Mbps)</a:t>
            </a:r>
          </a:p>
          <a:p>
            <a:pPr>
              <a:buFont typeface="Wingdings" panose="05000000000000000000" pitchFamily="2" charset="2"/>
              <a:buChar char="ü"/>
            </a:pPr>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08384" y="762000"/>
            <a:ext cx="4901506" cy="861774"/>
          </a:xfrm>
          <a:prstGeom prst="rect">
            <a:avLst/>
          </a:prstGeom>
          <a:noFill/>
        </p:spPr>
        <p:txBody>
          <a:bodyPr wrap="square" rtlCol="0">
            <a:spAutoFit/>
          </a:bodyPr>
          <a:lstStyle/>
          <a:p>
            <a:r>
              <a:rPr lang="en-IN" sz="2500" b="1" dirty="0">
                <a:latin typeface="Times New Roman" panose="02020603050405020304" pitchFamily="18" charset="0"/>
                <a:cs typeface="Times New Roman" panose="02020603050405020304" pitchFamily="18" charset="0"/>
              </a:rPr>
              <a:t>Software</a:t>
            </a:r>
            <a:r>
              <a:rPr lang="en-IN" sz="3200" b="1" dirty="0">
                <a:latin typeface="Times New Roman" panose="02020603050405020304" pitchFamily="18" charset="0"/>
                <a:cs typeface="Times New Roman" panose="02020603050405020304" pitchFamily="18" charset="0"/>
              </a:rPr>
              <a:t> </a:t>
            </a:r>
            <a:r>
              <a:rPr lang="en-IN" sz="2500" b="1" dirty="0">
                <a:latin typeface="Times New Roman" panose="02020603050405020304" pitchFamily="18" charset="0"/>
                <a:cs typeface="Times New Roman" panose="02020603050405020304" pitchFamily="18" charset="0"/>
              </a:rPr>
              <a:t>Requirements:</a:t>
            </a:r>
          </a:p>
          <a:p>
            <a:endParaRPr lang="en-US" dirty="0"/>
          </a:p>
        </p:txBody>
      </p:sp>
      <p:sp>
        <p:nvSpPr>
          <p:cNvPr id="5" name="TextBox 4"/>
          <p:cNvSpPr txBox="1"/>
          <p:nvPr/>
        </p:nvSpPr>
        <p:spPr>
          <a:xfrm>
            <a:off x="1515794" y="1623774"/>
            <a:ext cx="5485856" cy="3736279"/>
          </a:xfrm>
          <a:prstGeom prst="rect">
            <a:avLst/>
          </a:prstGeom>
          <a:noFill/>
        </p:spPr>
        <p:txBody>
          <a:bodyPr wrap="square" rtlCol="0">
            <a:spAutoFit/>
          </a:bodyPr>
          <a:lstStyle/>
          <a:p>
            <a:pPr marL="342900" indent="-342900">
              <a:lnSpc>
                <a:spcPct val="150000"/>
              </a:lnSpc>
              <a:buFont typeface="Wingdings" panose="05000000000000000000" pitchFamily="2" charset="2"/>
              <a:buChar char="ü"/>
            </a:pPr>
            <a:r>
              <a:rPr lang="en-IN" sz="2000" dirty="0">
                <a:latin typeface="Times New Roman" panose="02020603050405020304" pitchFamily="18" charset="0"/>
                <a:cs typeface="Times New Roman" panose="02020603050405020304" pitchFamily="18" charset="0"/>
              </a:rPr>
              <a:t>Front End:  React Native (Expo)</a:t>
            </a:r>
          </a:p>
          <a:p>
            <a:pPr marL="342900" indent="-342900">
              <a:lnSpc>
                <a:spcPct val="150000"/>
              </a:lnSpc>
              <a:buFont typeface="Wingdings" panose="05000000000000000000" pitchFamily="2" charset="2"/>
              <a:buChar char="ü"/>
            </a:pPr>
            <a:r>
              <a:rPr lang="en-IN" sz="2000" dirty="0">
                <a:latin typeface="Times New Roman" panose="02020603050405020304" pitchFamily="18" charset="0"/>
                <a:cs typeface="Times New Roman" panose="02020603050405020304" pitchFamily="18" charset="0"/>
              </a:rPr>
              <a:t>Backend: Node.js + Express.js</a:t>
            </a:r>
          </a:p>
          <a:p>
            <a:pPr marL="342900" indent="-342900">
              <a:lnSpc>
                <a:spcPct val="150000"/>
              </a:lnSpc>
              <a:buFont typeface="Wingdings" panose="05000000000000000000" pitchFamily="2" charset="2"/>
              <a:buChar char="ü"/>
            </a:pPr>
            <a:r>
              <a:rPr lang="en-IN" sz="2000" dirty="0">
                <a:latin typeface="Times New Roman" panose="02020603050405020304" pitchFamily="18" charset="0"/>
                <a:cs typeface="Times New Roman" panose="02020603050405020304" pitchFamily="18" charset="0"/>
              </a:rPr>
              <a:t>Database: MongoDB (Atlas)</a:t>
            </a:r>
          </a:p>
          <a:p>
            <a:pPr marL="342900" indent="-342900">
              <a:lnSpc>
                <a:spcPct val="150000"/>
              </a:lnSpc>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Browser: Latest versions of Chrome, Firefox, or Edge.</a:t>
            </a:r>
          </a:p>
          <a:p>
            <a:pPr marL="342900" indent="-342900">
              <a:lnSpc>
                <a:spcPct val="150000"/>
              </a:lnSpc>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GIS Tools: Google Earth Engine, </a:t>
            </a:r>
            <a:r>
              <a:rPr lang="en-US" sz="2000" dirty="0" err="1">
                <a:latin typeface="Times New Roman" panose="02020603050405020304" pitchFamily="18" charset="0"/>
                <a:cs typeface="Times New Roman" panose="02020603050405020304" pitchFamily="18" charset="0"/>
              </a:rPr>
              <a:t>Mapbox</a:t>
            </a:r>
            <a:endParaRPr lang="en-US" sz="2000" dirty="0">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AI/ML: Python for model training API: REST APIs for reporting &amp; alerts</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4964" y="187582"/>
            <a:ext cx="6294071" cy="954107"/>
          </a:xfrm>
          <a:prstGeom prst="rect">
            <a:avLst/>
          </a:prstGeom>
          <a:noFill/>
        </p:spPr>
        <p:txBody>
          <a:bodyPr wrap="square" rtlCol="0">
            <a:spAutoFit/>
          </a:bodyPr>
          <a:lstStyle/>
          <a:p>
            <a:r>
              <a:rPr lang="en-US" sz="3600" b="1" spc="-15" dirty="0">
                <a:latin typeface="Times New Roman" panose="02020603050405020304"/>
                <a:cs typeface="Times New Roman" panose="02020603050405020304"/>
              </a:rPr>
              <a:t>ARCHITECTURE DIAGRAM</a:t>
            </a:r>
            <a:endParaRPr lang="en-US" sz="3600" b="1" spc="-25" dirty="0">
              <a:latin typeface="Times New Roman" panose="02020603050405020304"/>
              <a:cs typeface="Times New Roman" panose="02020603050405020304"/>
            </a:endParaRPr>
          </a:p>
          <a:p>
            <a:endParaRPr lang="en-US" sz="2000" dirty="0"/>
          </a:p>
        </p:txBody>
      </p:sp>
      <p:pic>
        <p:nvPicPr>
          <p:cNvPr id="5" name="Picture 4">
            <a:extLst>
              <a:ext uri="{FF2B5EF4-FFF2-40B4-BE49-F238E27FC236}">
                <a16:creationId xmlns:a16="http://schemas.microsoft.com/office/drawing/2014/main" id="{CD5134A8-D46D-43CA-BB05-28BCBE09B4F9}"/>
              </a:ext>
            </a:extLst>
          </p:cNvPr>
          <p:cNvPicPr>
            <a:picLocks noChangeAspect="1"/>
          </p:cNvPicPr>
          <p:nvPr/>
        </p:nvPicPr>
        <p:blipFill>
          <a:blip r:embed="rId2"/>
          <a:stretch>
            <a:fillRect/>
          </a:stretch>
        </p:blipFill>
        <p:spPr>
          <a:xfrm>
            <a:off x="704310" y="961680"/>
            <a:ext cx="7735380" cy="493463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39775" y="685800"/>
            <a:ext cx="7631906" cy="954107"/>
          </a:xfrm>
          <a:prstGeom prst="rect">
            <a:avLst/>
          </a:prstGeom>
          <a:noFill/>
        </p:spPr>
        <p:txBody>
          <a:bodyPr wrap="square" rtlCol="0">
            <a:spAutoFit/>
          </a:bodyPr>
          <a:lstStyle/>
          <a:p>
            <a:r>
              <a:rPr lang="en-US" sz="2000" b="1" spc="-15" dirty="0">
                <a:latin typeface="Times New Roman" panose="02020603050405020304"/>
                <a:cs typeface="Times New Roman" panose="02020603050405020304"/>
              </a:rPr>
              <a:t>                         </a:t>
            </a:r>
            <a:r>
              <a:rPr lang="en-US" sz="3600" b="1" spc="-15" dirty="0">
                <a:latin typeface="Times New Roman" panose="02020603050405020304"/>
                <a:cs typeface="Times New Roman" panose="02020603050405020304"/>
              </a:rPr>
              <a:t>     MODULES</a:t>
            </a:r>
            <a:endParaRPr lang="en-US" sz="3600" b="1" spc="-25" dirty="0">
              <a:latin typeface="Times New Roman" panose="02020603050405020304"/>
              <a:cs typeface="Times New Roman" panose="02020603050405020304"/>
            </a:endParaRPr>
          </a:p>
          <a:p>
            <a:endParaRPr lang="en-US" sz="2000" dirty="0"/>
          </a:p>
        </p:txBody>
      </p:sp>
      <p:sp>
        <p:nvSpPr>
          <p:cNvPr id="5" name="TextBox 4"/>
          <p:cNvSpPr txBox="1"/>
          <p:nvPr/>
        </p:nvSpPr>
        <p:spPr>
          <a:xfrm>
            <a:off x="978926" y="1794674"/>
            <a:ext cx="7741617" cy="2806987"/>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Module 1: Incident Reporting (Text, image, GPS)</a:t>
            </a:r>
          </a:p>
          <a:p>
            <a:pPr marL="342900" indent="-342900" algn="just">
              <a:lnSpc>
                <a:spcPct val="150000"/>
              </a:lnSpc>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Module 2: Disaster Prediction and Analysis</a:t>
            </a:r>
          </a:p>
          <a:p>
            <a:pPr algn="just">
              <a:lnSpc>
                <a:spcPct val="150000"/>
              </a:lnSpc>
            </a:pPr>
            <a:r>
              <a:rPr lang="en-US" sz="2000" dirty="0">
                <a:latin typeface="Times New Roman" panose="02020603050405020304" pitchFamily="18" charset="0"/>
                <a:cs typeface="Times New Roman" panose="02020603050405020304" pitchFamily="18" charset="0"/>
              </a:rPr>
              <a:t>     (Floods, Earthquakes, Cyclones, Wildfires, Tsunamis, Landslides)</a:t>
            </a:r>
          </a:p>
          <a:p>
            <a:pPr marL="342900" indent="-342900" algn="just">
              <a:lnSpc>
                <a:spcPct val="150000"/>
              </a:lnSpc>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Module 3: Alert Notification System</a:t>
            </a:r>
          </a:p>
          <a:p>
            <a:pPr marL="342900" indent="-342900" algn="just">
              <a:lnSpc>
                <a:spcPct val="150000"/>
              </a:lnSpc>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Module 4: GIS-Based Environmental Analysis</a:t>
            </a:r>
          </a:p>
          <a:p>
            <a:pPr marL="342900" indent="-342900" algn="just">
              <a:lnSpc>
                <a:spcPct val="150000"/>
              </a:lnSpc>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Module 5: Crisis Management Console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76325" y="1621678"/>
            <a:ext cx="8077200" cy="4401205"/>
          </a:xfrm>
          <a:prstGeom prst="rect">
            <a:avLst/>
          </a:prstGeom>
          <a:noFill/>
        </p:spPr>
        <p:txBody>
          <a:bodyPr wrap="square" rtlCol="0">
            <a:spAutoFit/>
          </a:bodyPr>
          <a:lstStyle/>
          <a:p>
            <a:pPr marL="342900" indent="-342900" algn="just">
              <a:buFont typeface="Wingdings" panose="05000000000000000000" charset="0"/>
              <a:buChar char="Ø"/>
            </a:pPr>
            <a:r>
              <a:rPr lang="en-US" altLang="en-US" sz="2000" dirty="0">
                <a:latin typeface="Times New Roman" panose="02020603050405020304" pitchFamily="18" charset="0"/>
                <a:cs typeface="Times New Roman" panose="02020603050405020304" pitchFamily="18" charset="0"/>
              </a:rPr>
              <a:t>Users can report ongoing or witnessed disasters directly through the app using text descriptions, photos, and GPS-tagged locations.</a:t>
            </a:r>
          </a:p>
          <a:p>
            <a:pPr marL="342900" indent="-342900" algn="just">
              <a:buFont typeface="Wingdings" panose="05000000000000000000" charset="0"/>
              <a:buChar char="Ø"/>
            </a:pPr>
            <a:endParaRPr lang="en-US" altLang="en-US"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charset="0"/>
              <a:buChar char="Ø"/>
            </a:pPr>
            <a:r>
              <a:rPr lang="en-US" altLang="en-US" sz="2000" dirty="0">
                <a:latin typeface="Times New Roman" panose="02020603050405020304" pitchFamily="18" charset="0"/>
                <a:cs typeface="Times New Roman" panose="02020603050405020304" pitchFamily="18" charset="0"/>
              </a:rPr>
              <a:t>AI-based validation checks the authenticity of each report using metadata, image analysis, and cross-referencing with external data.</a:t>
            </a:r>
          </a:p>
          <a:p>
            <a:pPr marL="342900" indent="-342900" algn="just">
              <a:buFont typeface="Wingdings" panose="05000000000000000000" charset="0"/>
              <a:buChar char="Ø"/>
            </a:pPr>
            <a:endParaRPr lang="en-US" altLang="en-US"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charset="0"/>
              <a:buChar char="Ø"/>
            </a:pPr>
            <a:r>
              <a:rPr lang="en-US" altLang="en-US" sz="2000" dirty="0">
                <a:latin typeface="Times New Roman" panose="02020603050405020304" pitchFamily="18" charset="0"/>
                <a:cs typeface="Times New Roman" panose="02020603050405020304" pitchFamily="18" charset="0"/>
              </a:rPr>
              <a:t>Each report is processed and stored in a database where it is analyzed alongside live satellite and weather data for accuracy and urgency.</a:t>
            </a:r>
          </a:p>
          <a:p>
            <a:pPr marL="342900" indent="-342900" algn="just">
              <a:buFont typeface="Wingdings" panose="05000000000000000000" charset="0"/>
              <a:buChar char="Ø"/>
            </a:pPr>
            <a:endParaRPr lang="en-US" altLang="en-US"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charset="0"/>
              <a:buChar char="Ø"/>
            </a:pPr>
            <a:r>
              <a:rPr lang="en-US" altLang="en-US" sz="2000" dirty="0">
                <a:latin typeface="Times New Roman" panose="02020603050405020304" pitchFamily="18" charset="0"/>
                <a:cs typeface="Times New Roman" panose="02020603050405020304" pitchFamily="18" charset="0"/>
              </a:rPr>
              <a:t>Location-based filtering helps emergency teams to prioritize reports coming from highly vulnerable or densely populated regions.</a:t>
            </a:r>
          </a:p>
          <a:p>
            <a:pPr marL="342900" indent="-342900" algn="just">
              <a:buFont typeface="Wingdings" panose="05000000000000000000" charset="0"/>
              <a:buChar char="Ø"/>
            </a:pPr>
            <a:endParaRPr lang="en-US" altLang="en-US"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charset="0"/>
              <a:buChar char="Ø"/>
            </a:pPr>
            <a:r>
              <a:rPr lang="en-US" altLang="en-US" sz="2000" dirty="0">
                <a:latin typeface="Times New Roman" panose="02020603050405020304" pitchFamily="18" charset="0"/>
                <a:cs typeface="Times New Roman" panose="02020603050405020304" pitchFamily="18" charset="0"/>
              </a:rPr>
              <a:t>Offline mode allows users in remote areas to submit reports, which sync automatically when internet access is restored.</a:t>
            </a:r>
          </a:p>
        </p:txBody>
      </p:sp>
      <p:sp>
        <p:nvSpPr>
          <p:cNvPr id="6" name="TextBox 5"/>
          <p:cNvSpPr txBox="1"/>
          <p:nvPr/>
        </p:nvSpPr>
        <p:spPr>
          <a:xfrm>
            <a:off x="-282427" y="544460"/>
            <a:ext cx="9035952" cy="1077218"/>
          </a:xfrm>
          <a:prstGeom prst="rect">
            <a:avLst/>
          </a:prstGeom>
          <a:noFill/>
        </p:spPr>
        <p:txBody>
          <a:bodyPr wrap="square" rtlCol="0">
            <a:spAutoFit/>
          </a:bodyPr>
          <a:lstStyle/>
          <a:p>
            <a:pPr lvl="3" indent="457200"/>
            <a:r>
              <a:rPr lang="en-US" altLang="en-US" sz="3200" b="1" spc="-25" dirty="0">
                <a:latin typeface="Times New Roman" panose="02020603050405020304"/>
                <a:cs typeface="Times New Roman" panose="02020603050405020304"/>
                <a:sym typeface="+mn-ea"/>
              </a:rPr>
              <a:t>Module 1: Incident Reporting (Text, 							image, GPS)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33400" y="1748360"/>
            <a:ext cx="8077200" cy="4401205"/>
          </a:xfrm>
          <a:prstGeom prst="rect">
            <a:avLst/>
          </a:prstGeom>
          <a:noFill/>
        </p:spPr>
        <p:txBody>
          <a:bodyPr wrap="square" rtlCol="0">
            <a:spAutoFit/>
          </a:bodyPr>
          <a:lstStyle/>
          <a:p>
            <a:pPr marL="342900" indent="-342900" algn="just">
              <a:buFont typeface="Wingdings" panose="05000000000000000000" charset="0"/>
              <a:buChar char="Ø"/>
            </a:pPr>
            <a:r>
              <a:rPr lang="en-US" altLang="en-US" sz="2000" dirty="0">
                <a:latin typeface="Times New Roman" panose="02020603050405020304" pitchFamily="18" charset="0"/>
                <a:cs typeface="Times New Roman" panose="02020603050405020304" pitchFamily="18" charset="0"/>
              </a:rPr>
              <a:t>Machine learning models analyze historical trends, live environmental data, and sensor inputs to predict multiple types of disasters.</a:t>
            </a:r>
          </a:p>
          <a:p>
            <a:pPr marL="342900" indent="-342900" algn="just">
              <a:buFont typeface="Wingdings" panose="05000000000000000000" charset="0"/>
              <a:buChar char="Ø"/>
            </a:pPr>
            <a:endParaRPr lang="en-US" altLang="en-US"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charset="0"/>
              <a:buChar char="Ø"/>
            </a:pPr>
            <a:r>
              <a:rPr lang="en-US" altLang="en-US" sz="2000" dirty="0">
                <a:latin typeface="Times New Roman" panose="02020603050405020304" pitchFamily="18" charset="0"/>
                <a:cs typeface="Times New Roman" panose="02020603050405020304" pitchFamily="18" charset="0"/>
              </a:rPr>
              <a:t>Floods, earthquakes, cyclones, wildfires, landslides, and tsunamis are forecasted using real-time inputs from weather APIs and IoT devices.</a:t>
            </a:r>
          </a:p>
          <a:p>
            <a:pPr marL="342900" indent="-342900" algn="just">
              <a:buFont typeface="Wingdings" panose="05000000000000000000" charset="0"/>
              <a:buChar char="Ø"/>
            </a:pPr>
            <a:endParaRPr lang="en-US" altLang="en-US"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charset="0"/>
              <a:buChar char="Ø"/>
            </a:pPr>
            <a:r>
              <a:rPr lang="en-US" altLang="en-US" sz="2000" dirty="0">
                <a:latin typeface="Times New Roman" panose="02020603050405020304" pitchFamily="18" charset="0"/>
                <a:cs typeface="Times New Roman" panose="02020603050405020304" pitchFamily="18" charset="0"/>
              </a:rPr>
              <a:t>Risk heatmaps and vulnerability zones are generated to guide early warning systems and preparedness planning.</a:t>
            </a:r>
          </a:p>
          <a:p>
            <a:pPr marL="342900" indent="-342900" algn="just">
              <a:buFont typeface="Wingdings" panose="05000000000000000000" charset="0"/>
              <a:buChar char="Ø"/>
            </a:pPr>
            <a:endParaRPr lang="en-US" altLang="en-US"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charset="0"/>
              <a:buChar char="Ø"/>
            </a:pPr>
            <a:r>
              <a:rPr lang="en-US" altLang="en-US" sz="2000" dirty="0">
                <a:latin typeface="Times New Roman" panose="02020603050405020304" pitchFamily="18" charset="0"/>
                <a:cs typeface="Times New Roman" panose="02020603050405020304" pitchFamily="18" charset="0"/>
              </a:rPr>
              <a:t>The platform continuously learns and adapts, refining its predictions as more data becomes available.</a:t>
            </a:r>
          </a:p>
          <a:p>
            <a:pPr marL="342900" indent="-342900" algn="just">
              <a:buFont typeface="Wingdings" panose="05000000000000000000" charset="0"/>
              <a:buChar char="Ø"/>
            </a:pPr>
            <a:endParaRPr lang="en-US" altLang="en-US"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charset="0"/>
              <a:buChar char="Ø"/>
            </a:pPr>
            <a:r>
              <a:rPr lang="en-US" altLang="en-US" sz="2000" dirty="0">
                <a:latin typeface="Times New Roman" panose="02020603050405020304" pitchFamily="18" charset="0"/>
                <a:cs typeface="Times New Roman" panose="02020603050405020304" pitchFamily="18" charset="0"/>
              </a:rPr>
              <a:t>This predictive analysis enables proactive mitigation efforts, such as alerts, evacuations, and infrastructure protection.</a:t>
            </a:r>
          </a:p>
        </p:txBody>
      </p:sp>
      <p:sp>
        <p:nvSpPr>
          <p:cNvPr id="6" name="TextBox 5"/>
          <p:cNvSpPr txBox="1"/>
          <p:nvPr/>
        </p:nvSpPr>
        <p:spPr>
          <a:xfrm>
            <a:off x="-240224" y="178700"/>
            <a:ext cx="9035952" cy="1569660"/>
          </a:xfrm>
          <a:prstGeom prst="rect">
            <a:avLst/>
          </a:prstGeom>
          <a:noFill/>
        </p:spPr>
        <p:txBody>
          <a:bodyPr wrap="square" rtlCol="0">
            <a:spAutoFit/>
          </a:bodyPr>
          <a:lstStyle/>
          <a:p>
            <a:pPr lvl="3" indent="457200"/>
            <a:r>
              <a:rPr lang="en-US" altLang="en-US" sz="3200" b="1" spc="-25" dirty="0">
                <a:latin typeface="Times New Roman" panose="02020603050405020304"/>
                <a:cs typeface="Times New Roman" panose="02020603050405020304"/>
                <a:sym typeface="+mn-ea"/>
              </a:rPr>
              <a:t>Module 2: Disaster Prediction and Analysis (Floods, Earthquakes, Cyclones, Wildfires, Tsunamis, Landslides)</a:t>
            </a:r>
          </a:p>
        </p:txBody>
      </p:sp>
    </p:spTree>
    <p:extLst>
      <p:ext uri="{BB962C8B-B14F-4D97-AF65-F5344CB8AC3E}">
        <p14:creationId xmlns:p14="http://schemas.microsoft.com/office/powerpoint/2010/main" val="25326643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33400" y="1539737"/>
            <a:ext cx="8077200" cy="4401205"/>
          </a:xfrm>
          <a:prstGeom prst="rect">
            <a:avLst/>
          </a:prstGeom>
          <a:noFill/>
        </p:spPr>
        <p:txBody>
          <a:bodyPr wrap="square" rtlCol="0">
            <a:spAutoFit/>
          </a:bodyPr>
          <a:lstStyle/>
          <a:p>
            <a:pPr marL="342900" indent="-342900" algn="just">
              <a:buFont typeface="Wingdings" panose="05000000000000000000" charset="0"/>
              <a:buChar char="Ø"/>
            </a:pPr>
            <a:r>
              <a:rPr lang="en-US" altLang="en-US" sz="2000" dirty="0">
                <a:latin typeface="Times New Roman" panose="02020603050405020304" pitchFamily="18" charset="0"/>
                <a:cs typeface="Times New Roman" panose="02020603050405020304" pitchFamily="18" charset="0"/>
              </a:rPr>
              <a:t>The system sends instant alerts to users in disaster-prone areas, tailored to their real-time location and the severity of the threat.</a:t>
            </a:r>
          </a:p>
          <a:p>
            <a:pPr marL="342900" indent="-342900" algn="just">
              <a:buFont typeface="Wingdings" panose="05000000000000000000" charset="0"/>
              <a:buChar char="Ø"/>
            </a:pPr>
            <a:endParaRPr lang="en-US" altLang="en-US"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charset="0"/>
              <a:buChar char="Ø"/>
            </a:pPr>
            <a:r>
              <a:rPr lang="en-US" altLang="en-US" sz="2000" dirty="0">
                <a:latin typeface="Times New Roman" panose="02020603050405020304" pitchFamily="18" charset="0"/>
                <a:cs typeface="Times New Roman" panose="02020603050405020304" pitchFamily="18" charset="0"/>
              </a:rPr>
              <a:t>Messages include critical safety instructions, maps of safe zones, medical aid centers, and emergency contacts.</a:t>
            </a:r>
          </a:p>
          <a:p>
            <a:pPr marL="342900" indent="-342900" algn="just">
              <a:buFont typeface="Wingdings" panose="05000000000000000000" charset="0"/>
              <a:buChar char="Ø"/>
            </a:pPr>
            <a:endParaRPr lang="en-US" altLang="en-US"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charset="0"/>
              <a:buChar char="Ø"/>
            </a:pPr>
            <a:r>
              <a:rPr lang="en-US" altLang="en-US" sz="2000" dirty="0">
                <a:latin typeface="Times New Roman" panose="02020603050405020304" pitchFamily="18" charset="0"/>
                <a:cs typeface="Times New Roman" panose="02020603050405020304" pitchFamily="18" charset="0"/>
              </a:rPr>
              <a:t>Multiple channels—push notifications, SMS, and email—are used to ensure timely and wide dissemination.</a:t>
            </a:r>
          </a:p>
          <a:p>
            <a:pPr marL="342900" indent="-342900" algn="just">
              <a:buFont typeface="Wingdings" panose="05000000000000000000" charset="0"/>
              <a:buChar char="Ø"/>
            </a:pPr>
            <a:endParaRPr lang="en-US" altLang="en-US"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charset="0"/>
              <a:buChar char="Ø"/>
            </a:pPr>
            <a:r>
              <a:rPr lang="en-US" altLang="en-US" sz="2000" dirty="0">
                <a:latin typeface="Times New Roman" panose="02020603050405020304" pitchFamily="18" charset="0"/>
                <a:cs typeface="Times New Roman" panose="02020603050405020304" pitchFamily="18" charset="0"/>
              </a:rPr>
              <a:t>The alert logic can escalate warnings based on live environmental updates and incoming incident reports.</a:t>
            </a:r>
          </a:p>
          <a:p>
            <a:pPr marL="342900" indent="-342900" algn="just">
              <a:buFont typeface="Wingdings" panose="05000000000000000000" charset="0"/>
              <a:buChar char="Ø"/>
            </a:pPr>
            <a:endParaRPr lang="en-US" altLang="en-US"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charset="0"/>
              <a:buChar char="Ø"/>
            </a:pPr>
            <a:r>
              <a:rPr lang="en-US" altLang="en-US" sz="2000" dirty="0">
                <a:latin typeface="Times New Roman" panose="02020603050405020304" pitchFamily="18" charset="0"/>
                <a:cs typeface="Times New Roman" panose="02020603050405020304" pitchFamily="18" charset="0"/>
              </a:rPr>
              <a:t>Users have the option to configure alert preferences and sensitivity thresholds based on their region and risk tolerance.</a:t>
            </a:r>
          </a:p>
        </p:txBody>
      </p:sp>
      <p:sp>
        <p:nvSpPr>
          <p:cNvPr id="6" name="TextBox 5"/>
          <p:cNvSpPr txBox="1"/>
          <p:nvPr/>
        </p:nvSpPr>
        <p:spPr>
          <a:xfrm>
            <a:off x="-451240" y="734174"/>
            <a:ext cx="9035952" cy="584775"/>
          </a:xfrm>
          <a:prstGeom prst="rect">
            <a:avLst/>
          </a:prstGeom>
          <a:noFill/>
        </p:spPr>
        <p:txBody>
          <a:bodyPr wrap="square" rtlCol="0">
            <a:spAutoFit/>
          </a:bodyPr>
          <a:lstStyle/>
          <a:p>
            <a:pPr lvl="3" indent="457200"/>
            <a:r>
              <a:rPr lang="en-US" altLang="en-US" sz="3200" b="1" spc="-25" dirty="0">
                <a:latin typeface="Times New Roman" panose="02020603050405020304"/>
                <a:cs typeface="Times New Roman" panose="02020603050405020304"/>
                <a:sym typeface="+mn-ea"/>
              </a:rPr>
              <a:t>Module 3: Alert Notification System</a:t>
            </a:r>
          </a:p>
        </p:txBody>
      </p:sp>
    </p:spTree>
    <p:extLst>
      <p:ext uri="{BB962C8B-B14F-4D97-AF65-F5344CB8AC3E}">
        <p14:creationId xmlns:p14="http://schemas.microsoft.com/office/powerpoint/2010/main" val="5552138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76325" y="1621678"/>
            <a:ext cx="8077200" cy="4401205"/>
          </a:xfrm>
          <a:prstGeom prst="rect">
            <a:avLst/>
          </a:prstGeom>
          <a:noFill/>
        </p:spPr>
        <p:txBody>
          <a:bodyPr wrap="square" rtlCol="0">
            <a:spAutoFit/>
          </a:bodyPr>
          <a:lstStyle/>
          <a:p>
            <a:pPr marL="342900" indent="-342900" algn="just">
              <a:buFont typeface="Wingdings" panose="05000000000000000000" charset="0"/>
              <a:buChar char="Ø"/>
            </a:pPr>
            <a:r>
              <a:rPr lang="en-US" altLang="en-US" sz="2000" dirty="0">
                <a:latin typeface="Times New Roman" panose="02020603050405020304" pitchFamily="18" charset="0"/>
                <a:cs typeface="Times New Roman" panose="02020603050405020304" pitchFamily="18" charset="0"/>
              </a:rPr>
              <a:t>Geographic Information System (GIS) technology is used to map affected regions, disaster-prone zones, and population exposure.</a:t>
            </a:r>
          </a:p>
          <a:p>
            <a:pPr marL="342900" indent="-342900" algn="just">
              <a:buFont typeface="Wingdings" panose="05000000000000000000" charset="0"/>
              <a:buChar char="Ø"/>
            </a:pPr>
            <a:endParaRPr lang="en-US" altLang="en-US"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charset="0"/>
              <a:buChar char="Ø"/>
            </a:pPr>
            <a:r>
              <a:rPr lang="en-US" altLang="en-US" sz="2000" dirty="0">
                <a:latin typeface="Times New Roman" panose="02020603050405020304" pitchFamily="18" charset="0"/>
                <a:cs typeface="Times New Roman" panose="02020603050405020304" pitchFamily="18" charset="0"/>
              </a:rPr>
              <a:t>The system overlays incident reports, satellite imagery, and real-time environmental data for visual risk assessment.</a:t>
            </a:r>
          </a:p>
          <a:p>
            <a:pPr marL="342900" indent="-342900" algn="just">
              <a:buFont typeface="Wingdings" panose="05000000000000000000" charset="0"/>
              <a:buChar char="Ø"/>
            </a:pPr>
            <a:endParaRPr lang="en-US" altLang="en-US"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charset="0"/>
              <a:buChar char="Ø"/>
            </a:pPr>
            <a:r>
              <a:rPr lang="en-US" altLang="en-US" sz="2000" dirty="0">
                <a:latin typeface="Times New Roman" panose="02020603050405020304" pitchFamily="18" charset="0"/>
                <a:cs typeface="Times New Roman" panose="02020603050405020304" pitchFamily="18" charset="0"/>
              </a:rPr>
              <a:t>Helps in identifying long-term environmental degradation such as coastal erosion, water scarcity, or forest loss.</a:t>
            </a:r>
          </a:p>
          <a:p>
            <a:pPr marL="342900" indent="-342900" algn="just">
              <a:buFont typeface="Wingdings" panose="05000000000000000000" charset="0"/>
              <a:buChar char="Ø"/>
            </a:pPr>
            <a:endParaRPr lang="en-US" altLang="en-US"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charset="0"/>
              <a:buChar char="Ø"/>
            </a:pPr>
            <a:r>
              <a:rPr lang="en-US" altLang="en-US" sz="2000" dirty="0">
                <a:latin typeface="Times New Roman" panose="02020603050405020304" pitchFamily="18" charset="0"/>
                <a:cs typeface="Times New Roman" panose="02020603050405020304" pitchFamily="18" charset="0"/>
              </a:rPr>
              <a:t>Supports layered visualizations to help disaster responders and policymakers understand the ground situation effectively.</a:t>
            </a:r>
          </a:p>
          <a:p>
            <a:pPr marL="342900" indent="-342900" algn="just">
              <a:buFont typeface="Wingdings" panose="05000000000000000000" charset="0"/>
              <a:buChar char="Ø"/>
            </a:pPr>
            <a:endParaRPr lang="en-US" altLang="en-US"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charset="0"/>
              <a:buChar char="Ø"/>
            </a:pPr>
            <a:r>
              <a:rPr lang="en-US" altLang="en-US" sz="2000" dirty="0">
                <a:latin typeface="Times New Roman" panose="02020603050405020304" pitchFamily="18" charset="0"/>
                <a:cs typeface="Times New Roman" panose="02020603050405020304" pitchFamily="18" charset="0"/>
              </a:rPr>
              <a:t>Provides predictive zoning insights for disaster preparedness and land-use planning.</a:t>
            </a:r>
          </a:p>
        </p:txBody>
      </p:sp>
      <p:sp>
        <p:nvSpPr>
          <p:cNvPr id="6" name="TextBox 5"/>
          <p:cNvSpPr txBox="1"/>
          <p:nvPr/>
        </p:nvSpPr>
        <p:spPr>
          <a:xfrm>
            <a:off x="-282427" y="544460"/>
            <a:ext cx="9035952" cy="1077218"/>
          </a:xfrm>
          <a:prstGeom prst="rect">
            <a:avLst/>
          </a:prstGeom>
          <a:noFill/>
        </p:spPr>
        <p:txBody>
          <a:bodyPr wrap="square" rtlCol="0">
            <a:spAutoFit/>
          </a:bodyPr>
          <a:lstStyle/>
          <a:p>
            <a:pPr lvl="3" indent="457200"/>
            <a:r>
              <a:rPr lang="en-US" altLang="en-US" sz="3200" b="1" spc="-25" dirty="0">
                <a:latin typeface="Times New Roman" panose="02020603050405020304"/>
                <a:cs typeface="Times New Roman" panose="02020603050405020304"/>
                <a:sym typeface="+mn-ea"/>
              </a:rPr>
              <a:t>Module 4: GIS-Based Environmental 							Analysis</a:t>
            </a:r>
          </a:p>
        </p:txBody>
      </p:sp>
    </p:spTree>
    <p:extLst>
      <p:ext uri="{BB962C8B-B14F-4D97-AF65-F5344CB8AC3E}">
        <p14:creationId xmlns:p14="http://schemas.microsoft.com/office/powerpoint/2010/main" val="9799956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33400" y="1520241"/>
            <a:ext cx="8077200" cy="4708981"/>
          </a:xfrm>
          <a:prstGeom prst="rect">
            <a:avLst/>
          </a:prstGeom>
          <a:noFill/>
        </p:spPr>
        <p:txBody>
          <a:bodyPr wrap="square" rtlCol="0">
            <a:spAutoFit/>
          </a:bodyPr>
          <a:lstStyle/>
          <a:p>
            <a:pPr marL="342900" indent="-342900" algn="just">
              <a:buFont typeface="Wingdings" panose="05000000000000000000" charset="0"/>
              <a:buChar char="Ø"/>
            </a:pPr>
            <a:r>
              <a:rPr lang="en-US" altLang="en-US" sz="2000" dirty="0">
                <a:latin typeface="Times New Roman" panose="02020603050405020304" pitchFamily="18" charset="0"/>
                <a:cs typeface="Times New Roman" panose="02020603050405020304" pitchFamily="18" charset="0"/>
              </a:rPr>
              <a:t>A powerful console built for government officials, NGOs, and disaster response teams to manage real-time data and operations.</a:t>
            </a:r>
          </a:p>
          <a:p>
            <a:pPr marL="342900" indent="-342900" algn="just">
              <a:buFont typeface="Wingdings" panose="05000000000000000000" charset="0"/>
              <a:buChar char="Ø"/>
            </a:pPr>
            <a:endParaRPr lang="en-US" altLang="en-US"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charset="0"/>
              <a:buChar char="Ø"/>
            </a:pPr>
            <a:r>
              <a:rPr lang="en-US" altLang="en-US" sz="2000" dirty="0">
                <a:latin typeface="Times New Roman" panose="02020603050405020304" pitchFamily="18" charset="0"/>
                <a:cs typeface="Times New Roman" panose="02020603050405020304" pitchFamily="18" charset="0"/>
              </a:rPr>
              <a:t>Allows authorities to monitor reports, validate predictions, and track resource distribution across multiple regions.</a:t>
            </a:r>
          </a:p>
          <a:p>
            <a:pPr marL="342900" indent="-342900" algn="just">
              <a:buFont typeface="Wingdings" panose="05000000000000000000" charset="0"/>
              <a:buChar char="Ø"/>
            </a:pPr>
            <a:endParaRPr lang="en-US" altLang="en-US"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charset="0"/>
              <a:buChar char="Ø"/>
            </a:pPr>
            <a:r>
              <a:rPr lang="en-US" altLang="en-US" sz="2000" dirty="0">
                <a:latin typeface="Times New Roman" panose="02020603050405020304" pitchFamily="18" charset="0"/>
                <a:cs typeface="Times New Roman" panose="02020603050405020304" pitchFamily="18" charset="0"/>
              </a:rPr>
              <a:t>Interactive analytics help in understanding trends, incident density, and high-risk locations during an emergency.</a:t>
            </a:r>
          </a:p>
          <a:p>
            <a:pPr marL="342900" indent="-342900" algn="just">
              <a:buFont typeface="Wingdings" panose="05000000000000000000" charset="0"/>
              <a:buChar char="Ø"/>
            </a:pPr>
            <a:endParaRPr lang="en-US" altLang="en-US"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charset="0"/>
              <a:buChar char="Ø"/>
            </a:pPr>
            <a:r>
              <a:rPr lang="en-US" altLang="en-US" sz="2000" dirty="0">
                <a:latin typeface="Times New Roman" panose="02020603050405020304" pitchFamily="18" charset="0"/>
                <a:cs typeface="Times New Roman" panose="02020603050405020304" pitchFamily="18" charset="0"/>
              </a:rPr>
              <a:t>Role-based access control ensures that sensitive information is only accessible to authorized users.</a:t>
            </a:r>
          </a:p>
          <a:p>
            <a:pPr marL="342900" indent="-342900" algn="just">
              <a:buFont typeface="Wingdings" panose="05000000000000000000" charset="0"/>
              <a:buChar char="Ø"/>
            </a:pPr>
            <a:endParaRPr lang="en-US" altLang="en-US"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charset="0"/>
              <a:buChar char="Ø"/>
            </a:pPr>
            <a:r>
              <a:rPr lang="en-US" altLang="en-US" sz="2000" dirty="0">
                <a:latin typeface="Times New Roman" panose="02020603050405020304" pitchFamily="18" charset="0"/>
                <a:cs typeface="Times New Roman" panose="02020603050405020304" pitchFamily="18" charset="0"/>
              </a:rPr>
              <a:t>Includes support for post-disaster assessment reports, incident playback, and decision-logging for future learning.</a:t>
            </a:r>
          </a:p>
          <a:p>
            <a:pPr marL="342900" indent="-342900" algn="just">
              <a:buFont typeface="Wingdings" panose="05000000000000000000" charset="0"/>
              <a:buChar char="Ø"/>
            </a:pPr>
            <a:endParaRPr lang="en-US" altLang="en-US" sz="2000" dirty="0">
              <a:latin typeface="Times New Roman" panose="02020603050405020304" pitchFamily="18" charset="0"/>
              <a:cs typeface="Times New Roman" panose="02020603050405020304" pitchFamily="18" charset="0"/>
            </a:endParaRPr>
          </a:p>
        </p:txBody>
      </p:sp>
      <p:sp>
        <p:nvSpPr>
          <p:cNvPr id="6" name="TextBox 5"/>
          <p:cNvSpPr txBox="1"/>
          <p:nvPr/>
        </p:nvSpPr>
        <p:spPr>
          <a:xfrm>
            <a:off x="-464235" y="628778"/>
            <a:ext cx="8839006" cy="1077218"/>
          </a:xfrm>
          <a:prstGeom prst="rect">
            <a:avLst/>
          </a:prstGeom>
          <a:noFill/>
        </p:spPr>
        <p:txBody>
          <a:bodyPr wrap="square" rtlCol="0">
            <a:spAutoFit/>
          </a:bodyPr>
          <a:lstStyle/>
          <a:p>
            <a:pPr lvl="3" indent="457200"/>
            <a:r>
              <a:rPr lang="en-US" altLang="en-US" sz="3200" b="1" spc="-25" dirty="0">
                <a:latin typeface="Times New Roman" panose="02020603050405020304"/>
                <a:cs typeface="Times New Roman" panose="02020603050405020304"/>
                <a:sym typeface="+mn-ea"/>
              </a:rPr>
              <a:t>Module 5: Crisis Management Console</a:t>
            </a:r>
          </a:p>
          <a:p>
            <a:pPr lvl="3" indent="457200"/>
            <a:endParaRPr lang="en-US" altLang="en-US" sz="3200" b="1" spc="-25" dirty="0">
              <a:latin typeface="Times New Roman" panose="02020603050405020304"/>
              <a:cs typeface="Times New Roman" panose="02020603050405020304"/>
              <a:sym typeface="+mn-ea"/>
            </a:endParaRPr>
          </a:p>
        </p:txBody>
      </p:sp>
    </p:spTree>
    <p:extLst>
      <p:ext uri="{BB962C8B-B14F-4D97-AF65-F5344CB8AC3E}">
        <p14:creationId xmlns:p14="http://schemas.microsoft.com/office/powerpoint/2010/main" val="4100305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39A0A7CD-3DD8-4679-8D71-E9AE27106AAA}"/>
              </a:ext>
            </a:extLst>
          </p:cNvPr>
          <p:cNvSpPr txBox="1"/>
          <p:nvPr/>
        </p:nvSpPr>
        <p:spPr>
          <a:xfrm>
            <a:off x="1713767" y="295747"/>
            <a:ext cx="4124325" cy="584775"/>
          </a:xfrm>
          <a:prstGeom prst="rect">
            <a:avLst/>
          </a:prstGeom>
          <a:noFill/>
        </p:spPr>
        <p:txBody>
          <a:bodyPr wrap="square" rtlCol="0">
            <a:spAutoFit/>
          </a:bodyPr>
          <a:lstStyle/>
          <a:p>
            <a:pPr lvl="3" indent="457200"/>
            <a:r>
              <a:rPr lang="en-US" altLang="en-US" sz="3200" b="1" spc="-25" dirty="0">
                <a:latin typeface="Times New Roman" panose="02020603050405020304"/>
                <a:cs typeface="Times New Roman" panose="02020603050405020304"/>
                <a:sym typeface="+mn-ea"/>
              </a:rPr>
              <a:t>OUTPUT</a:t>
            </a:r>
          </a:p>
        </p:txBody>
      </p:sp>
      <p:pic>
        <p:nvPicPr>
          <p:cNvPr id="9" name="Picture 8">
            <a:extLst>
              <a:ext uri="{FF2B5EF4-FFF2-40B4-BE49-F238E27FC236}">
                <a16:creationId xmlns:a16="http://schemas.microsoft.com/office/drawing/2014/main" id="{782AE479-DFD7-46CA-AA37-1D83E29D3599}"/>
              </a:ext>
            </a:extLst>
          </p:cNvPr>
          <p:cNvPicPr/>
          <p:nvPr/>
        </p:nvPicPr>
        <p:blipFill>
          <a:blip r:embed="rId2"/>
          <a:stretch>
            <a:fillRect/>
          </a:stretch>
        </p:blipFill>
        <p:spPr>
          <a:xfrm>
            <a:off x="1450487" y="1029165"/>
            <a:ext cx="2615076" cy="4911778"/>
          </a:xfrm>
          <a:prstGeom prst="rect">
            <a:avLst/>
          </a:prstGeom>
        </p:spPr>
      </p:pic>
      <p:pic>
        <p:nvPicPr>
          <p:cNvPr id="10" name="Picture 9">
            <a:extLst>
              <a:ext uri="{FF2B5EF4-FFF2-40B4-BE49-F238E27FC236}">
                <a16:creationId xmlns:a16="http://schemas.microsoft.com/office/drawing/2014/main" id="{F57CD080-A8C8-4A8D-AAD0-ED6D5AB61953}"/>
              </a:ext>
            </a:extLst>
          </p:cNvPr>
          <p:cNvPicPr/>
          <p:nvPr/>
        </p:nvPicPr>
        <p:blipFill>
          <a:blip r:embed="rId3"/>
          <a:stretch>
            <a:fillRect/>
          </a:stretch>
        </p:blipFill>
        <p:spPr>
          <a:xfrm>
            <a:off x="4965897" y="960632"/>
            <a:ext cx="2615076" cy="4980309"/>
          </a:xfrm>
          <a:prstGeom prst="rect">
            <a:avLst/>
          </a:prstGeom>
        </p:spPr>
      </p:pic>
    </p:spTree>
    <p:extLst>
      <p:ext uri="{BB962C8B-B14F-4D97-AF65-F5344CB8AC3E}">
        <p14:creationId xmlns:p14="http://schemas.microsoft.com/office/powerpoint/2010/main" val="8353299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C276E10-3366-42CC-B377-6A3241D6892D}"/>
              </a:ext>
            </a:extLst>
          </p:cNvPr>
          <p:cNvPicPr/>
          <p:nvPr/>
        </p:nvPicPr>
        <p:blipFill>
          <a:blip r:embed="rId2"/>
          <a:stretch>
            <a:fillRect/>
          </a:stretch>
        </p:blipFill>
        <p:spPr>
          <a:xfrm>
            <a:off x="1159094" y="320724"/>
            <a:ext cx="2774315" cy="5702300"/>
          </a:xfrm>
          <a:prstGeom prst="rect">
            <a:avLst/>
          </a:prstGeom>
        </p:spPr>
      </p:pic>
      <p:pic>
        <p:nvPicPr>
          <p:cNvPr id="8" name="Picture 7">
            <a:extLst>
              <a:ext uri="{FF2B5EF4-FFF2-40B4-BE49-F238E27FC236}">
                <a16:creationId xmlns:a16="http://schemas.microsoft.com/office/drawing/2014/main" id="{BA65C804-4695-491A-B4B6-A926E35DEAFF}"/>
              </a:ext>
            </a:extLst>
          </p:cNvPr>
          <p:cNvPicPr/>
          <p:nvPr/>
        </p:nvPicPr>
        <p:blipFill>
          <a:blip r:embed="rId3"/>
          <a:stretch>
            <a:fillRect/>
          </a:stretch>
        </p:blipFill>
        <p:spPr>
          <a:xfrm>
            <a:off x="4591615" y="320724"/>
            <a:ext cx="2780030" cy="5715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44FB1F7-14B6-484F-84FC-9B42AFB9F197}"/>
              </a:ext>
            </a:extLst>
          </p:cNvPr>
          <p:cNvPicPr/>
          <p:nvPr/>
        </p:nvPicPr>
        <p:blipFill>
          <a:blip r:embed="rId2"/>
          <a:stretch>
            <a:fillRect/>
          </a:stretch>
        </p:blipFill>
        <p:spPr>
          <a:xfrm>
            <a:off x="1198441" y="320528"/>
            <a:ext cx="2780030" cy="5715000"/>
          </a:xfrm>
          <a:prstGeom prst="rect">
            <a:avLst/>
          </a:prstGeom>
        </p:spPr>
      </p:pic>
      <p:pic>
        <p:nvPicPr>
          <p:cNvPr id="7" name="Picture 6">
            <a:extLst>
              <a:ext uri="{FF2B5EF4-FFF2-40B4-BE49-F238E27FC236}">
                <a16:creationId xmlns:a16="http://schemas.microsoft.com/office/drawing/2014/main" id="{7DB5AFB5-7B90-459C-93A7-1BB2FFEFA21E}"/>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4736195" y="290048"/>
            <a:ext cx="2794635" cy="574548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010486" y="607255"/>
            <a:ext cx="4768948" cy="1077218"/>
          </a:xfrm>
          <a:prstGeom prst="rect">
            <a:avLst/>
          </a:prstGeom>
          <a:noFill/>
        </p:spPr>
        <p:txBody>
          <a:bodyPr wrap="square" rtlCol="0">
            <a:spAutoFit/>
          </a:bodyPr>
          <a:lstStyle/>
          <a:p>
            <a:r>
              <a:rPr lang="en-IN" sz="3600" b="1" dirty="0">
                <a:latin typeface="Times New Roman" panose="02020603050405020304" pitchFamily="18" charset="0"/>
                <a:cs typeface="Times New Roman" panose="02020603050405020304" pitchFamily="18" charset="0"/>
              </a:rPr>
              <a:t>FEATURES</a:t>
            </a:r>
          </a:p>
          <a:p>
            <a:endParaRPr lang="en-US" sz="2800" dirty="0"/>
          </a:p>
        </p:txBody>
      </p:sp>
      <p:sp>
        <p:nvSpPr>
          <p:cNvPr id="5" name="TextBox 4"/>
          <p:cNvSpPr txBox="1"/>
          <p:nvPr/>
        </p:nvSpPr>
        <p:spPr>
          <a:xfrm>
            <a:off x="1128935" y="2025506"/>
            <a:ext cx="5485856" cy="2806987"/>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Real-Time Incident Reporting</a:t>
            </a:r>
          </a:p>
          <a:p>
            <a:pPr marL="342900" indent="-3429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Automated Early Warning System</a:t>
            </a:r>
          </a:p>
          <a:p>
            <a:pPr marL="342900" indent="-3429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GIS and Remote Sensing Integration</a:t>
            </a:r>
          </a:p>
          <a:p>
            <a:pPr marL="342900" indent="-3429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Role-Based Access Control</a:t>
            </a:r>
          </a:p>
          <a:p>
            <a:pPr marL="342900" indent="-3429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AI-Powered Recommendations</a:t>
            </a:r>
          </a:p>
          <a:p>
            <a:pPr marL="342900" indent="-3429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Real-Time Monitoring and Admin Panel</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940134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p:nvPr/>
        </p:nvSpPr>
        <p:spPr>
          <a:xfrm>
            <a:off x="912812" y="522163"/>
            <a:ext cx="7318375" cy="553998"/>
          </a:xfrm>
          <a:prstGeom prst="rect">
            <a:avLst/>
          </a:prstGeom>
        </p:spPr>
        <p:txBody>
          <a:bodyPr vert="horz" lIns="91440" tIns="45720" rIns="91440" bIns="45720" rtlCol="0" anchor="b">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3600" b="1" dirty="0">
                <a:latin typeface="Times New Roman" panose="02020603050405020304" pitchFamily="18" charset="0"/>
                <a:cs typeface="Times New Roman" panose="02020603050405020304" pitchFamily="18" charset="0"/>
              </a:rPr>
              <a:t>CONCLUSION</a:t>
            </a:r>
            <a:endParaRPr lang="en-US" dirty="0">
              <a:latin typeface="Times New Roman" panose="02020603050405020304" pitchFamily="18" charset="0"/>
              <a:cs typeface="Times New Roman" panose="02020603050405020304" pitchFamily="18" charset="0"/>
            </a:endParaRPr>
          </a:p>
        </p:txBody>
      </p:sp>
      <p:sp>
        <p:nvSpPr>
          <p:cNvPr id="6" name="Text Placeholder 2"/>
          <p:cNvSpPr txBox="1"/>
          <p:nvPr/>
        </p:nvSpPr>
        <p:spPr>
          <a:xfrm>
            <a:off x="457200" y="1669367"/>
            <a:ext cx="8229600" cy="411247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41300" indent="457200" algn="just">
              <a:lnSpc>
                <a:spcPct val="100000"/>
              </a:lnSpc>
              <a:spcBef>
                <a:spcPts val="75"/>
              </a:spcBef>
            </a:pPr>
            <a:r>
              <a:rPr lang="en-US" altLang="en-US" sz="2000" dirty="0" err="1">
                <a:latin typeface="Times New Roman" panose="02020603050405020304" pitchFamily="18" charset="0"/>
                <a:cs typeface="Times New Roman" panose="02020603050405020304" pitchFamily="18" charset="0"/>
              </a:rPr>
              <a:t>EcoShield</a:t>
            </a:r>
            <a:r>
              <a:rPr lang="en-US" altLang="en-US" sz="2000" dirty="0">
                <a:latin typeface="Times New Roman" panose="02020603050405020304" pitchFamily="18" charset="0"/>
                <a:cs typeface="Times New Roman" panose="02020603050405020304" pitchFamily="18" charset="0"/>
              </a:rPr>
              <a:t> is a transformative disaster management system that combines AI, GIS, remote sensing, and mobile technology to improve disaster prediction, coastal protection, and climate resilience. By enabling real-time alerts, community participation, and environmental conservation, the platform shifts disaster response from a reactive approach to proactive mitigation.</a:t>
            </a:r>
          </a:p>
          <a:p>
            <a:pPr marL="241300" indent="457200" algn="just">
              <a:lnSpc>
                <a:spcPct val="100000"/>
              </a:lnSpc>
              <a:spcBef>
                <a:spcPts val="75"/>
              </a:spcBef>
            </a:pPr>
            <a:endParaRPr lang="en-US" altLang="en-US" sz="2000" dirty="0">
              <a:latin typeface="Times New Roman" panose="02020603050405020304" pitchFamily="18" charset="0"/>
              <a:cs typeface="Times New Roman" panose="02020603050405020304" pitchFamily="18" charset="0"/>
            </a:endParaRPr>
          </a:p>
          <a:p>
            <a:pPr marL="241300" indent="457200" algn="just">
              <a:lnSpc>
                <a:spcPct val="100000"/>
              </a:lnSpc>
              <a:spcBef>
                <a:spcPts val="75"/>
              </a:spcBef>
            </a:pPr>
            <a:r>
              <a:rPr lang="en-US" altLang="en-US" sz="2000" dirty="0">
                <a:latin typeface="Times New Roman" panose="02020603050405020304" pitchFamily="18" charset="0"/>
                <a:cs typeface="Times New Roman" panose="02020603050405020304" pitchFamily="18" charset="0"/>
              </a:rPr>
              <a:t>With future enhancements, </a:t>
            </a:r>
            <a:r>
              <a:rPr lang="en-US" altLang="en-US" sz="2000" dirty="0" err="1">
                <a:latin typeface="Times New Roman" panose="02020603050405020304" pitchFamily="18" charset="0"/>
                <a:cs typeface="Times New Roman" panose="02020603050405020304" pitchFamily="18" charset="0"/>
              </a:rPr>
              <a:t>EcoShield</a:t>
            </a:r>
            <a:r>
              <a:rPr lang="en-US" altLang="en-US" sz="2000" dirty="0">
                <a:latin typeface="Times New Roman" panose="02020603050405020304" pitchFamily="18" charset="0"/>
                <a:cs typeface="Times New Roman" panose="02020603050405020304" pitchFamily="18" charset="0"/>
              </a:rPr>
              <a:t> will become an intelligent, scalable, and globally adaptable solution—helping communities stay safer while strengthening long-term climate resilience and disaster preparedness!</a:t>
            </a:r>
          </a:p>
        </p:txBody>
      </p:sp>
    </p:spTree>
    <p:extLst>
      <p:ext uri="{BB962C8B-B14F-4D97-AF65-F5344CB8AC3E}">
        <p14:creationId xmlns:p14="http://schemas.microsoft.com/office/powerpoint/2010/main" val="16921218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617785" y="607255"/>
            <a:ext cx="6161649" cy="1077218"/>
          </a:xfrm>
          <a:prstGeom prst="rect">
            <a:avLst/>
          </a:prstGeom>
          <a:noFill/>
        </p:spPr>
        <p:txBody>
          <a:bodyPr wrap="square" rtlCol="0">
            <a:spAutoFit/>
          </a:bodyPr>
          <a:lstStyle/>
          <a:p>
            <a:r>
              <a:rPr lang="en-IN" sz="3600" b="1" dirty="0">
                <a:latin typeface="Times New Roman" panose="02020603050405020304" pitchFamily="18" charset="0"/>
                <a:cs typeface="Times New Roman" panose="02020603050405020304" pitchFamily="18" charset="0"/>
              </a:rPr>
              <a:t>FUTURE ENHANCEMENTS</a:t>
            </a:r>
          </a:p>
          <a:p>
            <a:endParaRPr lang="en-US" sz="2800" dirty="0"/>
          </a:p>
        </p:txBody>
      </p:sp>
      <p:sp>
        <p:nvSpPr>
          <p:cNvPr id="5" name="TextBox 4"/>
          <p:cNvSpPr txBox="1"/>
          <p:nvPr/>
        </p:nvSpPr>
        <p:spPr>
          <a:xfrm>
            <a:off x="706904" y="2155525"/>
            <a:ext cx="5485856" cy="2806987"/>
          </a:xfrm>
          <a:prstGeom prst="rect">
            <a:avLst/>
          </a:prstGeom>
          <a:noFill/>
        </p:spPr>
        <p:txBody>
          <a:bodyPr wrap="square" rtlCol="0">
            <a:spAutoFit/>
          </a:bodyPr>
          <a:lstStyle/>
          <a:p>
            <a:pPr marL="342900" indent="-342900">
              <a:lnSpc>
                <a:spcPct val="150000"/>
              </a:lnSpc>
              <a:buFont typeface="Wingdings" panose="05000000000000000000" pitchFamily="2" charset="2"/>
              <a:buChar char="ü"/>
            </a:pPr>
            <a:r>
              <a:rPr lang="en-IN" sz="2000" dirty="0">
                <a:latin typeface="Times New Roman" panose="02020603050405020304" pitchFamily="18" charset="0"/>
                <a:cs typeface="Times New Roman" panose="02020603050405020304" pitchFamily="18" charset="0"/>
              </a:rPr>
              <a:t>Drone &amp; IoT-Based Disaster Monitoring</a:t>
            </a:r>
          </a:p>
          <a:p>
            <a:pPr marL="342900" indent="-342900">
              <a:lnSpc>
                <a:spcPct val="150000"/>
              </a:lnSpc>
              <a:buFont typeface="Wingdings" panose="05000000000000000000" pitchFamily="2" charset="2"/>
              <a:buChar char="ü"/>
            </a:pPr>
            <a:r>
              <a:rPr lang="en-IN" sz="2000" dirty="0">
                <a:latin typeface="Times New Roman" panose="02020603050405020304" pitchFamily="18" charset="0"/>
                <a:cs typeface="Times New Roman" panose="02020603050405020304" pitchFamily="18" charset="0"/>
              </a:rPr>
              <a:t>Blockchain for Verified Disaster Reports </a:t>
            </a:r>
          </a:p>
          <a:p>
            <a:pPr marL="342900" indent="-342900">
              <a:lnSpc>
                <a:spcPct val="150000"/>
              </a:lnSpc>
              <a:buFont typeface="Wingdings" panose="05000000000000000000" pitchFamily="2" charset="2"/>
              <a:buChar char="ü"/>
            </a:pPr>
            <a:r>
              <a:rPr lang="en-IN" sz="2000" dirty="0">
                <a:latin typeface="Times New Roman" panose="02020603050405020304" pitchFamily="18" charset="0"/>
                <a:cs typeface="Times New Roman" panose="02020603050405020304" pitchFamily="18" charset="0"/>
              </a:rPr>
              <a:t>AR &amp; VR for Disaster Preparedness Training </a:t>
            </a:r>
          </a:p>
          <a:p>
            <a:pPr marL="342900" indent="-342900">
              <a:lnSpc>
                <a:spcPct val="150000"/>
              </a:lnSpc>
              <a:buFont typeface="Wingdings" panose="05000000000000000000" pitchFamily="2" charset="2"/>
              <a:buChar char="ü"/>
            </a:pPr>
            <a:r>
              <a:rPr lang="en-IN" sz="2000" dirty="0">
                <a:latin typeface="Times New Roman" panose="02020603050405020304" pitchFamily="18" charset="0"/>
                <a:cs typeface="Times New Roman" panose="02020603050405020304" pitchFamily="18" charset="0"/>
              </a:rPr>
              <a:t>Integration with Global Disaster Response Agencies</a:t>
            </a:r>
          </a:p>
          <a:p>
            <a:pPr marL="342900" indent="-342900">
              <a:lnSpc>
                <a:spcPct val="150000"/>
              </a:lnSpc>
              <a:buFont typeface="Wingdings" panose="05000000000000000000" pitchFamily="2" charset="2"/>
              <a:buChar char="ü"/>
            </a:pPr>
            <a:r>
              <a:rPr lang="en-IN" sz="2000" dirty="0">
                <a:latin typeface="Times New Roman" panose="02020603050405020304" pitchFamily="18" charset="0"/>
                <a:cs typeface="Times New Roman" panose="02020603050405020304" pitchFamily="18" charset="0"/>
              </a:rPr>
              <a:t>Improved Carbon Accounting with IoT Sensors</a:t>
            </a:r>
          </a:p>
        </p:txBody>
      </p:sp>
    </p:spTree>
    <p:extLst>
      <p:ext uri="{BB962C8B-B14F-4D97-AF65-F5344CB8AC3E}">
        <p14:creationId xmlns:p14="http://schemas.microsoft.com/office/powerpoint/2010/main" val="41889068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5C0D1136-E8A8-42D1-9E14-5BCA4DD7849A}"/>
              </a:ext>
            </a:extLst>
          </p:cNvPr>
          <p:cNvSpPr txBox="1">
            <a:spLocks/>
          </p:cNvSpPr>
          <p:nvPr/>
        </p:nvSpPr>
        <p:spPr>
          <a:xfrm>
            <a:off x="260253" y="42534"/>
            <a:ext cx="8229600" cy="1145286"/>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b="1" dirty="0">
                <a:latin typeface="Times New Roman" panose="02020603050405020304" pitchFamily="18" charset="0"/>
                <a:cs typeface="Times New Roman" panose="02020603050405020304" pitchFamily="18" charset="0"/>
              </a:rPr>
              <a:t>REFERENCES</a:t>
            </a:r>
            <a:br>
              <a:rPr lang="en-US" sz="1400" dirty="0">
                <a:latin typeface="Times New Roman" panose="02020603050405020304" pitchFamily="18" charset="0"/>
                <a:cs typeface="Times New Roman" panose="02020603050405020304" pitchFamily="18" charset="0"/>
              </a:rPr>
            </a:br>
            <a:endParaRPr lang="en-US" sz="1400" dirty="0">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A4CB92DE-6023-45EE-8744-5D27E7AEFCB2}"/>
              </a:ext>
            </a:extLst>
          </p:cNvPr>
          <p:cNvSpPr txBox="1">
            <a:spLocks/>
          </p:cNvSpPr>
          <p:nvPr/>
        </p:nvSpPr>
        <p:spPr>
          <a:xfrm>
            <a:off x="358726" y="1063605"/>
            <a:ext cx="8426547" cy="501363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457200" indent="-457200" algn="l">
              <a:lnSpc>
                <a:spcPct val="120000"/>
              </a:lnSpc>
              <a:buFont typeface="+mj-lt"/>
              <a:buAutoNum type="arabicParenR"/>
            </a:pPr>
            <a:r>
              <a:rPr lang="en-US" sz="1700" dirty="0">
                <a:latin typeface="Times New Roman" panose="02020603050405020304" pitchFamily="18" charset="0"/>
              </a:rPr>
              <a:t>M. </a:t>
            </a:r>
            <a:r>
              <a:rPr lang="en-US" sz="1700" dirty="0" err="1">
                <a:latin typeface="Times New Roman" panose="02020603050405020304" pitchFamily="18" charset="0"/>
              </a:rPr>
              <a:t>Danesh</a:t>
            </a:r>
            <a:r>
              <a:rPr lang="en-US" sz="1700" dirty="0">
                <a:latin typeface="Times New Roman" panose="02020603050405020304" pitchFamily="18" charset="0"/>
              </a:rPr>
              <a:t> Miah and A. Raihan, “Role of Casuarina shelterbelt for climate change adaptation and mitigation: An evidence from Cox’s Bazar, Bangladesh,” ResearchGate, 2022. </a:t>
            </a:r>
            <a:r>
              <a:rPr lang="en-US" sz="1700" dirty="0">
                <a:latin typeface="Times New Roman" panose="02020603050405020304" pitchFamily="18" charset="0"/>
                <a:hlinkClick r:id="rId2"/>
              </a:rPr>
              <a:t>https://www.researchgate.net/publication/358922221</a:t>
            </a:r>
            <a:endParaRPr lang="en-US" sz="1700" dirty="0">
              <a:latin typeface="Times New Roman" panose="02020603050405020304" pitchFamily="18" charset="0"/>
            </a:endParaRPr>
          </a:p>
          <a:p>
            <a:pPr marL="457200" indent="-457200" algn="l">
              <a:lnSpc>
                <a:spcPct val="120000"/>
              </a:lnSpc>
              <a:buFont typeface="+mj-lt"/>
              <a:buAutoNum type="arabicParenR"/>
            </a:pPr>
            <a:r>
              <a:rPr lang="en-US" sz="1700" dirty="0">
                <a:latin typeface="Times New Roman" panose="02020603050405020304" pitchFamily="18" charset="0"/>
              </a:rPr>
              <a:t>M. </a:t>
            </a:r>
            <a:r>
              <a:rPr lang="en-US" sz="1700" dirty="0" err="1">
                <a:latin typeface="Times New Roman" panose="02020603050405020304" pitchFamily="18" charset="0"/>
              </a:rPr>
              <a:t>Karimiziarani</a:t>
            </a:r>
            <a:r>
              <a:rPr lang="en-US" sz="1700" dirty="0">
                <a:latin typeface="Times New Roman" panose="02020603050405020304" pitchFamily="18" charset="0"/>
              </a:rPr>
              <a:t>, “Social Media Analytics in Disaster Response: A Comprehensive Review,” </a:t>
            </a:r>
            <a:r>
              <a:rPr lang="en-US" sz="1700" dirty="0" err="1">
                <a:latin typeface="Times New Roman" panose="02020603050405020304" pitchFamily="18" charset="0"/>
              </a:rPr>
              <a:t>arXiv</a:t>
            </a:r>
            <a:r>
              <a:rPr lang="en-US" sz="1700" dirty="0">
                <a:latin typeface="Times New Roman" panose="02020603050405020304" pitchFamily="18" charset="0"/>
              </a:rPr>
              <a:t> preprint arXiv:2307.04046, 2023. </a:t>
            </a:r>
            <a:r>
              <a:rPr lang="en-US" sz="1700" dirty="0">
                <a:latin typeface="Times New Roman" panose="02020603050405020304" pitchFamily="18" charset="0"/>
                <a:hlinkClick r:id="rId3"/>
              </a:rPr>
              <a:t>https://arxiv.org/pdf/2307.04046</a:t>
            </a:r>
            <a:endParaRPr lang="en-US" sz="1700" dirty="0">
              <a:latin typeface="Times New Roman" panose="02020603050405020304" pitchFamily="18" charset="0"/>
            </a:endParaRPr>
          </a:p>
          <a:p>
            <a:pPr marL="457200" indent="-457200" algn="l">
              <a:lnSpc>
                <a:spcPct val="120000"/>
              </a:lnSpc>
              <a:buFont typeface="+mj-lt"/>
              <a:buAutoNum type="arabicParenR"/>
            </a:pPr>
            <a:r>
              <a:rPr lang="en-US" sz="1700" dirty="0">
                <a:latin typeface="Times New Roman" panose="02020603050405020304" pitchFamily="18" charset="0"/>
              </a:rPr>
              <a:t>F. Sufi and I. Khalil, “Automated Disaster Monitoring from Social Media Posts Using AI-Based Location Intelligence and Sentiment Analysis,” ResearchGate, Mar. 2022 </a:t>
            </a:r>
            <a:r>
              <a:rPr lang="en-US" sz="1700" dirty="0">
                <a:latin typeface="Times New Roman" panose="02020603050405020304" pitchFamily="18" charset="0"/>
                <a:hlinkClick r:id="rId4"/>
              </a:rPr>
              <a:t>https://www.researchgate.net/publication/359388774</a:t>
            </a:r>
            <a:endParaRPr lang="en-US" sz="1700" dirty="0">
              <a:latin typeface="Times New Roman" panose="02020603050405020304" pitchFamily="18" charset="0"/>
            </a:endParaRPr>
          </a:p>
          <a:p>
            <a:pPr marL="457200" indent="-457200" algn="l">
              <a:lnSpc>
                <a:spcPct val="120000"/>
              </a:lnSpc>
              <a:buFont typeface="+mj-lt"/>
              <a:buAutoNum type="arabicParenR"/>
            </a:pPr>
            <a:r>
              <a:rPr lang="en-US" sz="1700" dirty="0">
                <a:latin typeface="Times New Roman" panose="02020603050405020304" pitchFamily="18" charset="0"/>
              </a:rPr>
              <a:t>S. Al </a:t>
            </a:r>
            <a:r>
              <a:rPr lang="en-US" sz="1700" dirty="0" err="1">
                <a:latin typeface="Times New Roman" panose="02020603050405020304" pitchFamily="18" charset="0"/>
              </a:rPr>
              <a:t>Shafian</a:t>
            </a:r>
            <a:r>
              <a:rPr lang="en-US" sz="1700" dirty="0">
                <a:latin typeface="Times New Roman" panose="02020603050405020304" pitchFamily="18" charset="0"/>
              </a:rPr>
              <a:t> and D. Hu, “Integrating Machine Learning and Remote Sensing in Disaster Management: A Decadal Review of Post-Disaster Building Damage Assessment,” Buildings, vol. 14, no. 8, p. 2344, 2024. </a:t>
            </a:r>
            <a:r>
              <a:rPr lang="en-US" sz="1700" dirty="0" err="1">
                <a:latin typeface="Times New Roman" panose="02020603050405020304" pitchFamily="18" charset="0"/>
              </a:rPr>
              <a:t>doi</a:t>
            </a:r>
            <a:r>
              <a:rPr lang="en-US" sz="1700" dirty="0">
                <a:latin typeface="Times New Roman" panose="02020603050405020304" pitchFamily="18" charset="0"/>
              </a:rPr>
              <a:t>: 10.3390/buildings14082344</a:t>
            </a:r>
          </a:p>
          <a:p>
            <a:pPr marL="457200" indent="-457200" algn="l">
              <a:lnSpc>
                <a:spcPct val="120000"/>
              </a:lnSpc>
              <a:buFont typeface="+mj-lt"/>
              <a:buAutoNum type="arabicParenR"/>
            </a:pPr>
            <a:r>
              <a:rPr lang="en-US" sz="1700" dirty="0">
                <a:latin typeface="Times New Roman" panose="02020603050405020304" pitchFamily="18" charset="0"/>
              </a:rPr>
              <a:t>E.-S. Apostol, C.-O. </a:t>
            </a:r>
            <a:r>
              <a:rPr lang="en-US" sz="1700" dirty="0" err="1">
                <a:latin typeface="Times New Roman" panose="02020603050405020304" pitchFamily="18" charset="0"/>
              </a:rPr>
              <a:t>Truică</a:t>
            </a:r>
            <a:r>
              <a:rPr lang="en-US" sz="1700" dirty="0">
                <a:latin typeface="Times New Roman" panose="02020603050405020304" pitchFamily="18" charset="0"/>
              </a:rPr>
              <a:t>, and A. </a:t>
            </a:r>
            <a:r>
              <a:rPr lang="en-US" sz="1700" dirty="0" err="1">
                <a:latin typeface="Times New Roman" panose="02020603050405020304" pitchFamily="18" charset="0"/>
              </a:rPr>
              <a:t>Paschke</a:t>
            </a:r>
            <a:r>
              <a:rPr lang="en-US" sz="1700" dirty="0">
                <a:latin typeface="Times New Roman" panose="02020603050405020304" pitchFamily="18" charset="0"/>
              </a:rPr>
              <a:t>, “</a:t>
            </a:r>
            <a:r>
              <a:rPr lang="en-US" sz="1700" dirty="0" err="1">
                <a:latin typeface="Times New Roman" panose="02020603050405020304" pitchFamily="18" charset="0"/>
              </a:rPr>
              <a:t>ContCommRTD</a:t>
            </a:r>
            <a:r>
              <a:rPr lang="en-US" sz="1700" dirty="0">
                <a:latin typeface="Times New Roman" panose="02020603050405020304" pitchFamily="18" charset="0"/>
              </a:rPr>
              <a:t>: A Distributed Content-Based Misinformation-Aware Community Detection System for Real-Time Disaster Reporting,” </a:t>
            </a:r>
            <a:r>
              <a:rPr lang="en-US" sz="1700" dirty="0" err="1">
                <a:latin typeface="Times New Roman" panose="02020603050405020304" pitchFamily="18" charset="0"/>
              </a:rPr>
              <a:t>arXiv</a:t>
            </a:r>
            <a:r>
              <a:rPr lang="en-US" sz="1700" dirty="0">
                <a:latin typeface="Times New Roman" panose="02020603050405020304" pitchFamily="18" charset="0"/>
              </a:rPr>
              <a:t> preprint arXiv:2301.12984, Jan. 2023. </a:t>
            </a:r>
            <a:r>
              <a:rPr lang="en-US" sz="1700" dirty="0">
                <a:latin typeface="Times New Roman" panose="02020603050405020304" pitchFamily="18" charset="0"/>
                <a:hlinkClick r:id="rId5"/>
              </a:rPr>
              <a:t>https://arxiv.org/abs/2301.12984</a:t>
            </a:r>
            <a:endParaRPr lang="en-US" sz="1700" dirty="0">
              <a:latin typeface="Times New Roman" panose="02020603050405020304" pitchFamily="18" charset="0"/>
            </a:endParaRPr>
          </a:p>
        </p:txBody>
      </p:sp>
    </p:spTree>
    <p:extLst>
      <p:ext uri="{BB962C8B-B14F-4D97-AF65-F5344CB8AC3E}">
        <p14:creationId xmlns:p14="http://schemas.microsoft.com/office/powerpoint/2010/main" val="396816802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1734</TotalTime>
  <Words>1627</Words>
  <Application>Microsoft Office PowerPoint</Application>
  <PresentationFormat>On-screen Show (4:3)</PresentationFormat>
  <Paragraphs>157</Paragraphs>
  <Slides>24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Calibri</vt:lpstr>
      <vt:lpstr>Calibri Light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Yeswanth .A</dc:creator>
  <cp:lastModifiedBy>Arfah Manaal</cp:lastModifiedBy>
  <cp:revision>79</cp:revision>
  <dcterms:created xsi:type="dcterms:W3CDTF">2024-04-23T03:29:00Z</dcterms:created>
  <dcterms:modified xsi:type="dcterms:W3CDTF">2025-09-02T13:24:24Z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F77A603B9DB14FC8A2469A4700DBB172_12</vt:lpwstr>
  </property>
  <property fmtid="{D5CDD505-2E9C-101B-9397-08002B2CF9AE}" pid="3" name="KSOProductBuildVer">
    <vt:lpwstr>1033-12.2.0.20795</vt:lpwstr>
  </property>
</Properties>
</file>